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Lexend Bold" panose="020B0604020202020204" charset="0"/>
      <p:regular r:id="rId13"/>
    </p:embeddedFont>
    <p:embeddedFont>
      <p:font typeface="Consolas" panose="020B0609020204030204" pitchFamily="49" charset="0"/>
      <p:regular r:id="rId14"/>
      <p:bold r:id="rId15"/>
      <p:italic r:id="rId16"/>
      <p:boldItalic r:id="rId17"/>
    </p:embeddedFont>
    <p:embeddedFont>
      <p:font typeface="Calibri" panose="020F0502020204030204" pitchFamily="34" charset="0"/>
      <p:regular r:id="rId18"/>
      <p:bold r:id="rId19"/>
      <p:italic r:id="rId20"/>
      <p:boldItalic r:id="rId21"/>
    </p:embeddedFont>
    <p:embeddedFont>
      <p:font typeface="Lexend Medium" panose="020B0604020202020204" charset="0"/>
      <p:regular r:id="rId22"/>
    </p:embeddedFont>
    <p:embeddedFont>
      <p:font typeface="Lexend" panose="020B0604020202020204" charset="0"/>
      <p:regular r:id="rId23"/>
    </p:embeddedFont>
    <p:embeddedFont>
      <p:font typeface="Martian Mono Medium" panose="020B0604020202020204" charset="0"/>
      <p:regular r:id="rId24"/>
    </p:embeddedFont>
    <p:embeddedFont>
      <p:font typeface="Krona One" panose="020B0604020202020204"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1" d="100"/>
          <a:sy n="91" d="100"/>
        </p:scale>
        <p:origin x="-341"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CE0E1C5F-947C-4CBC-B727-81A34A257525}" type="datetimeFigureOut">
              <a:rPr lang="en-IN" smtClean="0"/>
              <a:t>24-10-2026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885554F0-0383-4287-B6C6-645513D5CCA1}" type="slidenum">
              <a:rPr lang="en-IN" smtClean="0"/>
              <a:t>‹#›</a:t>
            </a:fld>
            <a:endParaRPr lang="en-IN"/>
          </a:p>
        </p:txBody>
      </p:sp>
    </p:spTree>
    <p:extLst>
      <p:ext uri="{BB962C8B-B14F-4D97-AF65-F5344CB8AC3E}">
        <p14:creationId xmlns:p14="http://schemas.microsoft.com/office/powerpoint/2010/main" val="376310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Ramya N, a final-year Computer Science student. Over the past 60 days, I took on the ABTalks challenge to build real software engineering habits through deliberate daily practice.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skillset breakdown. I stay completely honest about where I stand: full-stack JavaScript and core DSA are solid, while Java and System Design are actively in progress.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 Prep Coach was my biggest capstone. It connects a React front-end through an Express backend to MongoDB for auth and Gemini API for prompt generation and feedback.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I got stuck, I fell back on this framework: break the feature down, trace the data flow with logs, and document what worked so future bugs are easier to solve.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example that cemented data structures for me is Two Sum. Going from nested loops to a single-pass hash map reduces time complexity from O(n squared) to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profile and challenge repository links, project repository links, application screenshots, certificates or completion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following along. Day 60 marks the completion of the challenge, but my preparation for campus placements and technical interviews is just getting started. Check out my GitHub for all the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dirty="0">
              <a:solidFill>
                <a:srgbClr val="FFFFFF"/>
              </a:solidFill>
            </a:endParaRPr>
          </a:p>
        </p:txBody>
      </p:sp>
      <p:sp>
        <p:nvSpPr>
          <p:cNvPr id="5" name="Footer Placeholder 4"/>
          <p:cNvSpPr>
            <a:spLocks noGrp="1"/>
          </p:cNvSpPr>
          <p:nvPr>
            <p:ph type="ftr" sz="quarter" idx="11"/>
          </p:nvPr>
        </p:nvSpPr>
        <p:spPr/>
        <p:txBody>
          <a:bodyPr/>
          <a:lstStyle/>
          <a:p>
            <a:endParaRPr kumimoji="0" lang="en-US">
              <a:solidFill>
                <a:schemeClr val="accent1">
                  <a:tint val="20000"/>
                </a:schemeClr>
              </a:solidFill>
            </a:endParaRPr>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dirty="0">
              <a:solidFill>
                <a:srgbClr val="FFFFFF"/>
              </a:solidFill>
            </a:endParaRPr>
          </a:p>
        </p:txBody>
      </p:sp>
    </p:spTree>
    <p:extLst>
      <p:ext uri="{BB962C8B-B14F-4D97-AF65-F5344CB8AC3E}">
        <p14:creationId xmlns:p14="http://schemas.microsoft.com/office/powerpoint/2010/main" val="57053250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23003713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26060872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167156537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71175372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25201037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15542984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36544263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solidFill>
                <a:schemeClr val="tx1"/>
              </a:solidFill>
            </a:endParaRPr>
          </a:p>
        </p:txBody>
      </p:sp>
      <p:sp>
        <p:nvSpPr>
          <p:cNvPr id="6" name="Footer Placeholder 5"/>
          <p:cNvSpPr>
            <a:spLocks noGrp="1"/>
          </p:cNvSpPr>
          <p:nvPr>
            <p:ph type="ftr" sz="quarter" idx="11"/>
          </p:nvPr>
        </p:nvSpPr>
        <p:spPr/>
        <p:txBody>
          <a:bodyPr/>
          <a:lstStyle/>
          <a:p>
            <a:endParaRPr kumimoji="0" lang="en-US">
              <a:solidFill>
                <a:schemeClr val="tx1"/>
              </a:solidFill>
            </a:endParaRPr>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solidFill>
                <a:schemeClr val="tx1"/>
              </a:solidFill>
            </a:endParaRPr>
          </a:p>
        </p:txBody>
      </p:sp>
    </p:spTree>
    <p:extLst>
      <p:ext uri="{BB962C8B-B14F-4D97-AF65-F5344CB8AC3E}">
        <p14:creationId xmlns:p14="http://schemas.microsoft.com/office/powerpoint/2010/main" val="30684247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29412381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eaLnBrk="1" latinLnBrk="0" hangingPunct="1"/>
            <a:fld id="{544213AF-26F6-41FA-8D85-E2C5388D6E58}" type="datetimeFigureOut">
              <a:rPr lang="en-US" smtClean="0"/>
              <a:pPr eaLnBrk="1" latinLnBrk="0" hangingPunct="1"/>
              <a:t>10/24/2026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extLst>
      <p:ext uri="{BB962C8B-B14F-4D97-AF65-F5344CB8AC3E}">
        <p14:creationId xmlns:p14="http://schemas.microsoft.com/office/powerpoint/2010/main" val="9707885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bg>
      <p:bgPr>
        <a:solidFill>
          <a:srgbClr val="15154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master 2">
    <p:bg>
      <p:bgPr>
        <a:solidFill>
          <a:srgbClr val="15154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latinLnBrk="0" hangingPunct="1"/>
            <a:fld id="{544213AF-26F6-41FA-8D85-E2C5388D6E58}" type="datetimeFigureOut">
              <a:rPr lang="en-US" smtClean="0"/>
              <a:pPr eaLnBrk="1" latinLnBrk="0" hangingPunct="1"/>
              <a:t>10/24/2026</a:t>
            </a:fld>
            <a:endParaRPr lang="en-US" sz="1000" dirty="0">
              <a:solidFill>
                <a:schemeClr val="tx1"/>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eaLnBrk="1" latinLnBrk="0" hangingPunct="1"/>
            <a:endParaRPr kumimoji="0" lang="en-US" sz="1000" dirty="0">
              <a:solidFill>
                <a:schemeClr val="tx1"/>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BC35B-A44B-4119-B8DA-DE9E3DFADA20}" type="slidenum">
              <a:rPr kumimoji="0" lang="en-US" smtClean="0"/>
              <a:pPr eaLnBrk="1" latinLnBrk="0" hangingPunct="1"/>
              <a:t>‹#›</a:t>
            </a:fld>
            <a:endParaRPr kumimoji="0" lang="en-US" sz="1000" b="0">
              <a:solidFill>
                <a:schemeClr val="tx1"/>
              </a:solidFill>
            </a:endParaRPr>
          </a:p>
        </p:txBody>
      </p:sp>
    </p:spTree>
    <p:extLst>
      <p:ext uri="{BB962C8B-B14F-4D97-AF65-F5344CB8AC3E}">
        <p14:creationId xmlns:p14="http://schemas.microsoft.com/office/powerpoint/2010/main" val="355001200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87380" y="1033145"/>
            <a:ext cx="604504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FFFF"/>
                </a:solidFill>
                <a:latin typeface="Martian Mono Medium" pitchFamily="34" charset="0"/>
                <a:ea typeface="Martian Mono Medium" pitchFamily="34" charset="-122"/>
                <a:cs typeface="Martian Mono Medium" pitchFamily="34" charset="0"/>
              </a:rPr>
              <a:t>FINAL ENGINEERING BOSS BATTLE</a:t>
            </a:r>
            <a:endParaRPr lang="en-US" sz="1300" dirty="0"/>
          </a:p>
        </p:txBody>
      </p:sp>
      <p:sp>
        <p:nvSpPr>
          <p:cNvPr id="3" name="Text 1"/>
          <p:cNvSpPr/>
          <p:nvPr/>
        </p:nvSpPr>
        <p:spPr>
          <a:xfrm>
            <a:off x="787380" y="1372156"/>
            <a:ext cx="5435464" cy="1974850"/>
          </a:xfrm>
          <a:prstGeom prst="rect">
            <a:avLst/>
          </a:prstGeom>
          <a:noFill/>
          <a:ln/>
        </p:spPr>
        <p:txBody>
          <a:bodyPr wrap="square" lIns="0" tIns="0" rIns="0" bIns="0" rtlCol="0" anchor="t">
            <a:normAutofit lnSpcReduction="10000"/>
          </a:bodyPr>
          <a:lstStyle/>
          <a:p>
            <a:pPr marL="0" indent="0" algn="l">
              <a:lnSpc>
                <a:spcPct val="90000"/>
              </a:lnSpc>
              <a:buNone/>
            </a:pPr>
            <a:r>
              <a:rPr lang="en-US" sz="3600" kern="100" spc="-36" dirty="0">
                <a:solidFill>
                  <a:srgbClr val="FFFFFF"/>
                </a:solidFill>
                <a:latin typeface="Krona One" pitchFamily="34" charset="0"/>
                <a:ea typeface="Krona One" pitchFamily="34" charset="-122"/>
                <a:cs typeface="Krona One" pitchFamily="34" charset="0"/>
              </a:rPr>
              <a:t>My 60-Day</a:t>
            </a:r>
            <a:endParaRPr lang="en-US" sz="3600" dirty="0"/>
          </a:p>
          <a:p>
            <a:pPr marL="0" indent="0" algn="l">
              <a:lnSpc>
                <a:spcPct val="90000"/>
              </a:lnSpc>
              <a:buNone/>
            </a:pPr>
            <a:r>
              <a:rPr lang="en-US" sz="3600" kern="100" spc="-36" dirty="0">
                <a:solidFill>
                  <a:srgbClr val="FFFFFF"/>
                </a:solidFill>
                <a:latin typeface="Krona One" pitchFamily="34" charset="0"/>
                <a:ea typeface="Krona One" pitchFamily="34" charset="-122"/>
                <a:cs typeface="Krona One" pitchFamily="34" charset="0"/>
              </a:rPr>
              <a:t>Software</a:t>
            </a:r>
            <a:endParaRPr lang="en-US" sz="3600" dirty="0"/>
          </a:p>
          <a:p>
            <a:pPr marL="0" indent="0" algn="l">
              <a:lnSpc>
                <a:spcPct val="90000"/>
              </a:lnSpc>
              <a:buNone/>
            </a:pPr>
            <a:r>
              <a:rPr lang="en-US" sz="3600" kern="100" spc="-36" dirty="0">
                <a:solidFill>
                  <a:srgbClr val="FFFFFF"/>
                </a:solidFill>
                <a:latin typeface="Krona One" pitchFamily="34" charset="0"/>
                <a:ea typeface="Krona One" pitchFamily="34" charset="-122"/>
                <a:cs typeface="Krona One" pitchFamily="34" charset="0"/>
              </a:rPr>
              <a:t>Engineering</a:t>
            </a:r>
            <a:endParaRPr lang="en-US" sz="3600" dirty="0"/>
          </a:p>
          <a:p>
            <a:pPr marL="0" indent="0" algn="l">
              <a:lnSpc>
                <a:spcPct val="90000"/>
              </a:lnSpc>
              <a:buNone/>
            </a:pPr>
            <a:r>
              <a:rPr lang="en-US" sz="3600" kern="100" spc="-36" dirty="0">
                <a:solidFill>
                  <a:srgbClr val="FFFFFF"/>
                </a:solidFill>
                <a:latin typeface="Krona One" pitchFamily="34" charset="0"/>
                <a:ea typeface="Krona One" pitchFamily="34" charset="-122"/>
                <a:cs typeface="Krona One" pitchFamily="34" charset="0"/>
              </a:rPr>
              <a:t>Journey</a:t>
            </a:r>
            <a:endParaRPr lang="en-US" sz="3600" dirty="0"/>
          </a:p>
        </p:txBody>
      </p:sp>
      <p:sp>
        <p:nvSpPr>
          <p:cNvPr id="4" name="Text 2"/>
          <p:cNvSpPr/>
          <p:nvPr/>
        </p:nvSpPr>
        <p:spPr>
          <a:xfrm>
            <a:off x="787380" y="3525441"/>
            <a:ext cx="5435464" cy="685800"/>
          </a:xfrm>
          <a:prstGeom prst="rect">
            <a:avLst/>
          </a:prstGeom>
          <a:noFill/>
          <a:ln/>
        </p:spPr>
        <p:txBody>
          <a:bodyPr wrap="square" lIns="0" tIns="0" rIns="0" bIns="0" rtlCol="0" anchor="t">
            <a:normAutofit/>
          </a:bodyPr>
          <a:lstStyle/>
          <a:p>
            <a:pPr marL="0" indent="0" algn="l">
              <a:lnSpc>
                <a:spcPct val="112000"/>
              </a:lnSpc>
              <a:buNone/>
            </a:pPr>
            <a:r>
              <a:rPr lang="en-US" sz="2000" dirty="0">
                <a:solidFill>
                  <a:srgbClr val="FFFFFF"/>
                </a:solidFill>
                <a:latin typeface="Lexend" pitchFamily="34" charset="0"/>
                <a:ea typeface="Lexend" pitchFamily="34" charset="-122"/>
                <a:cs typeface="Lexend" pitchFamily="34" charset="0"/>
              </a:rPr>
              <a:t>ABTalks 60-Day Software Engineering Challenge</a:t>
            </a:r>
            <a:endParaRPr lang="en-US" sz="2000" dirty="0"/>
          </a:p>
        </p:txBody>
      </p:sp>
      <p:sp>
        <p:nvSpPr>
          <p:cNvPr id="5" name="Text 3"/>
          <p:cNvSpPr/>
          <p:nvPr/>
        </p:nvSpPr>
        <p:spPr>
          <a:xfrm>
            <a:off x="787380" y="4515406"/>
            <a:ext cx="6045049"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2878FF"/>
                </a:solidFill>
                <a:latin typeface="Lexend" pitchFamily="34" charset="0"/>
                <a:ea typeface="Lexend" pitchFamily="34" charset="-122"/>
                <a:cs typeface="Lexend" pitchFamily="34" charset="0"/>
              </a:rPr>
              <a:t>Ramya N</a:t>
            </a:r>
            <a:r>
              <a:rPr lang="en-US" sz="1400" kern="100" spc="14" dirty="0">
                <a:solidFill>
                  <a:srgbClr val="FFFFFF"/>
                </a:solidFill>
                <a:latin typeface="Lexend" pitchFamily="34" charset="0"/>
                <a:ea typeface="Lexend" pitchFamily="34" charset="-122"/>
                <a:cs typeface="Lexend" pitchFamily="34" charset="0"/>
              </a:rPr>
              <a:t> · Final-Year B.E. Computer Science &amp; Engineering</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914009"/>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THE 60-DAY CADENCE</a:t>
            </a:r>
            <a:endParaRPr lang="en-US" sz="1300" dirty="0"/>
          </a:p>
        </p:txBody>
      </p:sp>
      <p:sp>
        <p:nvSpPr>
          <p:cNvPr id="3" name="Text 1"/>
          <p:cNvSpPr/>
          <p:nvPr/>
        </p:nvSpPr>
        <p:spPr>
          <a:xfrm>
            <a:off x="609585" y="2233639"/>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Consistent practice built my skills</a:t>
            </a:r>
            <a:endParaRPr lang="en-US" sz="2800" dirty="0"/>
          </a:p>
        </p:txBody>
      </p:sp>
      <p:sp>
        <p:nvSpPr>
          <p:cNvPr id="4" name="Text 2"/>
          <p:cNvSpPr/>
          <p:nvPr/>
        </p:nvSpPr>
        <p:spPr>
          <a:xfrm>
            <a:off x="609585" y="2944475"/>
            <a:ext cx="1965871"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Learn</a:t>
            </a:r>
            <a:endParaRPr lang="en-US" sz="2400" dirty="0"/>
          </a:p>
        </p:txBody>
      </p:sp>
      <p:sp>
        <p:nvSpPr>
          <p:cNvPr id="5" name="Text 3"/>
          <p:cNvSpPr/>
          <p:nvPr/>
        </p:nvSpPr>
        <p:spPr>
          <a:xfrm>
            <a:off x="3032644" y="2944475"/>
            <a:ext cx="1737277"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Build</a:t>
            </a:r>
            <a:endParaRPr lang="en-US" sz="2400" dirty="0"/>
          </a:p>
        </p:txBody>
      </p:sp>
      <p:sp>
        <p:nvSpPr>
          <p:cNvPr id="6" name="Text 4"/>
          <p:cNvSpPr/>
          <p:nvPr/>
        </p:nvSpPr>
        <p:spPr>
          <a:xfrm>
            <a:off x="5227110" y="2944475"/>
            <a:ext cx="1737376"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Debug</a:t>
            </a:r>
            <a:endParaRPr lang="en-US" sz="2400" dirty="0"/>
          </a:p>
        </p:txBody>
      </p:sp>
      <p:sp>
        <p:nvSpPr>
          <p:cNvPr id="7" name="Text 5"/>
          <p:cNvSpPr/>
          <p:nvPr/>
        </p:nvSpPr>
        <p:spPr>
          <a:xfrm>
            <a:off x="7421674" y="2944475"/>
            <a:ext cx="1737277"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Optimize</a:t>
            </a:r>
            <a:endParaRPr lang="en-US" sz="2400" dirty="0"/>
          </a:p>
        </p:txBody>
      </p:sp>
      <p:sp>
        <p:nvSpPr>
          <p:cNvPr id="8" name="Text 6"/>
          <p:cNvSpPr/>
          <p:nvPr/>
        </p:nvSpPr>
        <p:spPr>
          <a:xfrm>
            <a:off x="9616140" y="2944475"/>
            <a:ext cx="1965970"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Showcase</a:t>
            </a:r>
            <a:endParaRPr lang="en-US" sz="2400" dirty="0"/>
          </a:p>
        </p:txBody>
      </p:sp>
      <p:sp>
        <p:nvSpPr>
          <p:cNvPr id="9" name="Shape 7"/>
          <p:cNvSpPr/>
          <p:nvPr/>
        </p:nvSpPr>
        <p:spPr>
          <a:xfrm>
            <a:off x="609585" y="3674666"/>
            <a:ext cx="3620798" cy="38100"/>
          </a:xfrm>
          <a:prstGeom prst="roundRect">
            <a:avLst>
              <a:gd name="adj" fmla="val 49999"/>
            </a:avLst>
          </a:prstGeom>
          <a:solidFill>
            <a:srgbClr val="2878FF"/>
          </a:solidFill>
          <a:ln/>
        </p:spPr>
      </p:sp>
      <p:sp>
        <p:nvSpPr>
          <p:cNvPr id="10" name="Text 8"/>
          <p:cNvSpPr/>
          <p:nvPr/>
        </p:nvSpPr>
        <p:spPr>
          <a:xfrm>
            <a:off x="609585" y="4062016"/>
            <a:ext cx="10972526" cy="899120"/>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Coding practice, debugging, problem-solving</a:t>
            </a:r>
            <a:endParaRPr lang="en-US" sz="2400" dirty="0"/>
          </a:p>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Project development, documentation, presentation</a:t>
            </a:r>
            <a:endParaRPr lang="en-US" sz="2400" dirty="0"/>
          </a:p>
        </p:txBody>
      </p:sp>
      <p:sp>
        <p:nvSpPr>
          <p:cNvPr id="11" name="Shape 9"/>
          <p:cNvSpPr/>
          <p:nvPr/>
        </p:nvSpPr>
        <p:spPr>
          <a:xfrm>
            <a:off x="2797700" y="2929235"/>
            <a:ext cx="12700" cy="396180"/>
          </a:xfrm>
          <a:prstGeom prst="rect">
            <a:avLst/>
          </a:prstGeom>
          <a:solidFill>
            <a:srgbClr val="27E0E3"/>
          </a:solidFill>
          <a:ln/>
        </p:spPr>
      </p:sp>
      <p:sp>
        <p:nvSpPr>
          <p:cNvPr id="12" name="Shape 10"/>
          <p:cNvSpPr/>
          <p:nvPr/>
        </p:nvSpPr>
        <p:spPr>
          <a:xfrm>
            <a:off x="4992166" y="2929235"/>
            <a:ext cx="12700" cy="396180"/>
          </a:xfrm>
          <a:prstGeom prst="rect">
            <a:avLst/>
          </a:prstGeom>
          <a:solidFill>
            <a:srgbClr val="27E0E3"/>
          </a:solidFill>
          <a:ln/>
        </p:spPr>
      </p:sp>
      <p:sp>
        <p:nvSpPr>
          <p:cNvPr id="13" name="Shape 11"/>
          <p:cNvSpPr/>
          <p:nvPr/>
        </p:nvSpPr>
        <p:spPr>
          <a:xfrm>
            <a:off x="7186730" y="2929235"/>
            <a:ext cx="12700" cy="396180"/>
          </a:xfrm>
          <a:prstGeom prst="rect">
            <a:avLst/>
          </a:prstGeom>
          <a:solidFill>
            <a:srgbClr val="27E0E3"/>
          </a:solidFill>
          <a:ln/>
        </p:spPr>
      </p:sp>
      <p:sp>
        <p:nvSpPr>
          <p:cNvPr id="14" name="Shape 12"/>
          <p:cNvSpPr/>
          <p:nvPr/>
        </p:nvSpPr>
        <p:spPr>
          <a:xfrm>
            <a:off x="9381196" y="2929235"/>
            <a:ext cx="12700" cy="396180"/>
          </a:xfrm>
          <a:prstGeom prst="rect">
            <a:avLst/>
          </a:prstGeom>
          <a:solidFill>
            <a:srgbClr val="27E0E3"/>
          </a:solidFill>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TECHNICAL COMPETENCIES</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Technical skills I developed</a:t>
            </a:r>
            <a:endParaRPr lang="en-US" sz="2800" dirty="0"/>
          </a:p>
        </p:txBody>
      </p:sp>
      <p:sp>
        <p:nvSpPr>
          <p:cNvPr id="4" name="Shape 2"/>
          <p:cNvSpPr/>
          <p:nvPr/>
        </p:nvSpPr>
        <p:spPr>
          <a:xfrm>
            <a:off x="609585" y="1641971"/>
            <a:ext cx="5333867" cy="3492302"/>
          </a:xfrm>
          <a:prstGeom prst="roundRect">
            <a:avLst>
              <a:gd name="adj" fmla="val 4364"/>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5" name="Text 3"/>
          <p:cNvSpPr/>
          <p:nvPr/>
        </p:nvSpPr>
        <p:spPr>
          <a:xfrm>
            <a:off x="857229" y="1906766"/>
            <a:ext cx="50862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CORE SKILLS</a:t>
            </a:r>
            <a:endParaRPr lang="en-US" sz="1300" dirty="0"/>
          </a:p>
        </p:txBody>
      </p:sp>
      <p:sp>
        <p:nvSpPr>
          <p:cNvPr id="6" name="Text 4"/>
          <p:cNvSpPr/>
          <p:nvPr/>
        </p:nvSpPr>
        <p:spPr>
          <a:xfrm>
            <a:off x="857229" y="2265462"/>
            <a:ext cx="4838579" cy="2621161"/>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0"/>
              </a:rPr>
              <a:t>Programming and problem-solving</a:t>
            </a:r>
            <a:endParaRPr lang="en-US" sz="2400" dirty="0"/>
          </a:p>
          <a:p>
            <a:pPr marL="487680" indent="-487680" algn="l">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0"/>
              </a:rPr>
              <a:t>Data structures and algorithms</a:t>
            </a:r>
            <a:endParaRPr lang="en-US" sz="2400" dirty="0"/>
          </a:p>
          <a:p>
            <a:pPr marL="487680" indent="-487680" algn="l">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0"/>
              </a:rPr>
              <a:t>Frontend and backend development</a:t>
            </a:r>
            <a:endParaRPr lang="en-US" sz="2400" dirty="0"/>
          </a:p>
        </p:txBody>
      </p:sp>
      <p:sp>
        <p:nvSpPr>
          <p:cNvPr id="7" name="Shape 5"/>
          <p:cNvSpPr/>
          <p:nvPr/>
        </p:nvSpPr>
        <p:spPr>
          <a:xfrm>
            <a:off x="6248244" y="1641971"/>
            <a:ext cx="5333867" cy="3492302"/>
          </a:xfrm>
          <a:prstGeom prst="roundRect">
            <a:avLst>
              <a:gd name="adj" fmla="val 4364"/>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8" name="Text 6"/>
          <p:cNvSpPr/>
          <p:nvPr/>
        </p:nvSpPr>
        <p:spPr>
          <a:xfrm>
            <a:off x="6495887" y="1889621"/>
            <a:ext cx="4838579" cy="1722041"/>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0"/>
              </a:rPr>
              <a:t>APIs, databases, and authentication</a:t>
            </a:r>
            <a:endParaRPr lang="en-US" sz="2400" dirty="0"/>
          </a:p>
          <a:p>
            <a:pPr marL="487680" indent="-487680" algn="l">
              <a:lnSpc>
                <a:spcPct val="113000"/>
              </a:lnSpc>
              <a:buSzPct val="100000"/>
              <a:buChar char="•"/>
            </a:pPr>
            <a:r>
              <a:rPr lang="en-US" sz="2400" b="1" dirty="0">
                <a:solidFill>
                  <a:srgbClr val="E6E9FF"/>
                </a:solidFill>
                <a:latin typeface="Lexend Bold" pitchFamily="34" charset="0"/>
                <a:ea typeface="Lexend Bold" pitchFamily="34" charset="-122"/>
                <a:cs typeface="Lexend Bold" pitchFamily="34" charset="0"/>
              </a:rPr>
              <a:t>Debugging, testing, GitHub, and documentation</a:t>
            </a:r>
            <a:endParaRPr lang="en-US" sz="2400" dirty="0"/>
          </a:p>
        </p:txBody>
      </p:sp>
      <p:sp>
        <p:nvSpPr>
          <p:cNvPr id="9" name="Text 7"/>
          <p:cNvSpPr/>
          <p:nvPr/>
        </p:nvSpPr>
        <p:spPr>
          <a:xfrm>
            <a:off x="6495887" y="3806607"/>
            <a:ext cx="50862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9347"/>
                </a:solidFill>
                <a:latin typeface="Martian Mono Medium" pitchFamily="34" charset="0"/>
                <a:ea typeface="Martian Mono Medium" pitchFamily="34" charset="-122"/>
                <a:cs typeface="Martian Mono Medium" pitchFamily="34" charset="0"/>
              </a:rPr>
              <a:t>LEARNING</a:t>
            </a:r>
            <a:endParaRPr lang="en-US" sz="1300" dirty="0"/>
          </a:p>
        </p:txBody>
      </p:sp>
      <p:sp>
        <p:nvSpPr>
          <p:cNvPr id="10" name="Text 8"/>
          <p:cNvSpPr/>
          <p:nvPr/>
        </p:nvSpPr>
        <p:spPr>
          <a:xfrm>
            <a:off x="6495887" y="4176732"/>
            <a:ext cx="5086223" cy="411460"/>
          </a:xfrm>
          <a:prstGeom prst="rect">
            <a:avLst/>
          </a:prstGeom>
          <a:noFill/>
          <a:ln/>
        </p:spPr>
        <p:txBody>
          <a:bodyPr wrap="none" lIns="0" tIns="0" rIns="0" bIns="0" rtlCol="0" anchor="t"/>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0"/>
              </a:rPr>
              <a:t>Java and system design</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26745"/>
            <a:ext cx="8107557"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FLAGSHIP CAPSTONE</a:t>
            </a:r>
            <a:endParaRPr lang="en-US" sz="1300" dirty="0"/>
          </a:p>
        </p:txBody>
      </p:sp>
      <p:sp>
        <p:nvSpPr>
          <p:cNvPr id="3" name="Text 1"/>
          <p:cNvSpPr/>
          <p:nvPr/>
        </p:nvSpPr>
        <p:spPr>
          <a:xfrm>
            <a:off x="609585" y="946375"/>
            <a:ext cx="7497972"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GD Prep Coach: Group Discussion Practice</a:t>
            </a:r>
            <a:endParaRPr lang="en-US" sz="2800" dirty="0"/>
          </a:p>
        </p:txBody>
      </p:sp>
      <p:sp>
        <p:nvSpPr>
          <p:cNvPr id="4" name="Text 2"/>
          <p:cNvSpPr/>
          <p:nvPr/>
        </p:nvSpPr>
        <p:spPr>
          <a:xfrm>
            <a:off x="609585" y="2059424"/>
            <a:ext cx="7497972" cy="92571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0"/>
              </a:rPr>
              <a:t>A full-stack web application designed to help students simulate discussion topics, organize talking points, and refine communication.</a:t>
            </a:r>
            <a:endParaRPr lang="en-US" sz="1800" dirty="0"/>
          </a:p>
        </p:txBody>
      </p:sp>
      <p:sp>
        <p:nvSpPr>
          <p:cNvPr id="5" name="Text 3"/>
          <p:cNvSpPr/>
          <p:nvPr/>
        </p:nvSpPr>
        <p:spPr>
          <a:xfrm>
            <a:off x="609585" y="3249613"/>
            <a:ext cx="7497972" cy="2433042"/>
          </a:xfrm>
          <a:prstGeom prst="rect">
            <a:avLst/>
          </a:prstGeom>
          <a:noFill/>
          <a:ln/>
        </p:spPr>
        <p:txBody>
          <a:bodyPr wrap="square" lIns="0" tIns="0" rIns="0" bIns="0" rtlCol="0" anchor="t">
            <a:normAutofit lnSpcReduction="10000"/>
          </a:bodyPr>
          <a:lstStyle/>
          <a:p>
            <a:pPr marL="0" indent="0" algn="l">
              <a:lnSpc>
                <a:spcPct val="113000"/>
              </a:lnSpc>
              <a:spcAft>
                <a:spcPts val="2100"/>
              </a:spcAft>
              <a:buNone/>
            </a:pPr>
            <a:r>
              <a:rPr lang="en-US" sz="1800" b="1" dirty="0">
                <a:solidFill>
                  <a:srgbClr val="E6E9FF"/>
                </a:solidFill>
                <a:latin typeface="Lexend Bold" pitchFamily="34" charset="0"/>
                <a:ea typeface="Lexend Bold" pitchFamily="34" charset="-122"/>
                <a:cs typeface="Lexend Bold" pitchFamily="34" charset="0"/>
              </a:rPr>
              <a:t>Problem:</a:t>
            </a:r>
            <a:r>
              <a:rPr lang="en-US" sz="1800" dirty="0">
                <a:solidFill>
                  <a:srgbClr val="E6E9FF"/>
                </a:solidFill>
                <a:latin typeface="Lexend" pitchFamily="34" charset="0"/>
                <a:ea typeface="Lexend" pitchFamily="34" charset="-122"/>
                <a:cs typeface="Lexend" pitchFamily="34" charset="0"/>
              </a:rPr>
              <a:t> Students lack realistic prompts and structured feedback when preparing for placement group discussions. </a:t>
            </a:r>
            <a:r>
              <a:rPr lang="en-US" sz="1800" b="1" dirty="0">
                <a:solidFill>
                  <a:srgbClr val="E6E9FF"/>
                </a:solidFill>
                <a:latin typeface="Lexend Bold" pitchFamily="34" charset="0"/>
                <a:ea typeface="Lexend Bold" pitchFamily="34" charset="-122"/>
                <a:cs typeface="Lexend Bold" pitchFamily="34" charset="0"/>
              </a:rPr>
              <a:t>Solution:</a:t>
            </a:r>
            <a:r>
              <a:rPr lang="en-US" sz="1800" dirty="0">
                <a:solidFill>
                  <a:srgbClr val="E6E9FF"/>
                </a:solidFill>
                <a:latin typeface="Lexend" pitchFamily="34" charset="0"/>
                <a:ea typeface="Lexend" pitchFamily="34" charset="-122"/>
                <a:cs typeface="Lexend" pitchFamily="34" charset="0"/>
              </a:rPr>
              <a:t> Generates context-rich topics, offers real-time prompt analysis, and provides AI-assisted critique.</a:t>
            </a:r>
            <a:endParaRPr lang="en-US" sz="1800" dirty="0"/>
          </a:p>
          <a:p>
            <a:pPr marL="0" indent="0" algn="l">
              <a:lnSpc>
                <a:spcPct val="113000"/>
              </a:lnSpc>
              <a:buNone/>
            </a:pPr>
            <a:r>
              <a:rPr lang="en-US" sz="1800" b="1" dirty="0">
                <a:solidFill>
                  <a:srgbClr val="E6E9FF"/>
                </a:solidFill>
                <a:latin typeface="Lexend Bold" pitchFamily="34" charset="0"/>
                <a:ea typeface="Lexend Bold" pitchFamily="34" charset="-122"/>
                <a:cs typeface="Lexend Bold" pitchFamily="34" charset="0"/>
              </a:rPr>
              <a:t>Stack:</a:t>
            </a:r>
            <a:r>
              <a:rPr lang="en-US" sz="1800" dirty="0">
                <a:solidFill>
                  <a:srgbClr val="E6E9FF"/>
                </a:solidFill>
                <a:latin typeface="Lexend" pitchFamily="34" charset="0"/>
                <a:ea typeface="Lexend" pitchFamily="34" charset="-122"/>
                <a:cs typeface="Lexend" pitchFamily="34" charset="0"/>
              </a:rPr>
              <a:t> React + Vite, Node.js + Express, MongoDB Atlas, JWT auth, Google Gemini API. </a:t>
            </a:r>
            <a:r>
              <a:rPr lang="en-US" sz="1800" b="1" dirty="0">
                <a:solidFill>
                  <a:srgbClr val="E6E9FF"/>
                </a:solidFill>
                <a:latin typeface="Lexend Bold" pitchFamily="34" charset="0"/>
                <a:ea typeface="Lexend Bold" pitchFamily="34" charset="-122"/>
                <a:cs typeface="Lexend Bold" pitchFamily="34" charset="0"/>
              </a:rPr>
              <a:t>Lesson learned:</a:t>
            </a:r>
            <a:r>
              <a:rPr lang="en-US" sz="1800" dirty="0">
                <a:solidFill>
                  <a:srgbClr val="E6E9FF"/>
                </a:solidFill>
                <a:latin typeface="Lexend" pitchFamily="34" charset="0"/>
                <a:ea typeface="Lexend" pitchFamily="34" charset="-122"/>
                <a:cs typeface="Lexend" pitchFamily="34" charset="0"/>
              </a:rPr>
              <a:t> Projects connect theory with practical skills.</a:t>
            </a:r>
            <a:endParaRPr lang="en-US" sz="1800" dirty="0"/>
          </a:p>
        </p:txBody>
      </p:sp>
      <p:sp>
        <p:nvSpPr>
          <p:cNvPr id="6" name="Shape 4"/>
          <p:cNvSpPr/>
          <p:nvPr/>
        </p:nvSpPr>
        <p:spPr>
          <a:xfrm>
            <a:off x="9199630" y="177800"/>
            <a:ext cx="2409765" cy="3200400"/>
          </a:xfrm>
          <a:prstGeom prst="roundRect">
            <a:avLst>
              <a:gd name="adj" fmla="val 6324"/>
            </a:avLst>
          </a:prstGeom>
          <a:noFill/>
          <a:ln w="19050">
            <a:solidFill>
              <a:srgbClr val="2878FF"/>
            </a:solidFill>
            <a:prstDash val="solid"/>
          </a:ln>
          <a:effectLst>
            <a:outerShdw blurRad="201930" dist="127" dir="16200000" algn="bl" rotWithShape="0">
              <a:srgbClr val="2878FF">
                <a:alpha val="40000"/>
              </a:srgbClr>
            </a:outerShdw>
          </a:effectLst>
        </p:spPr>
      </p:sp>
      <p:pic>
        <p:nvPicPr>
          <p:cNvPr id="7" name="Image 0" descr="preencoded.png"/>
          <p:cNvPicPr>
            <a:picLocks noChangeAspect="1"/>
          </p:cNvPicPr>
          <p:nvPr/>
        </p:nvPicPr>
        <p:blipFill>
          <a:blip r:embed="rId3"/>
          <a:stretch>
            <a:fillRect/>
          </a:stretch>
        </p:blipFill>
        <p:spPr>
          <a:xfrm>
            <a:off x="9199630" y="177800"/>
            <a:ext cx="2409765" cy="3200400"/>
          </a:xfrm>
          <a:prstGeom prst="rect">
            <a:avLst/>
          </a:prstGeom>
        </p:spPr>
      </p:pic>
      <p:sp>
        <p:nvSpPr>
          <p:cNvPr id="8" name="Text 5"/>
          <p:cNvSpPr/>
          <p:nvPr/>
        </p:nvSpPr>
        <p:spPr>
          <a:xfrm>
            <a:off x="9199630" y="3510915"/>
            <a:ext cx="2814269" cy="693241"/>
          </a:xfrm>
          <a:prstGeom prst="rect">
            <a:avLst/>
          </a:prstGeom>
          <a:noFill/>
          <a:ln/>
        </p:spPr>
        <p:txBody>
          <a:bodyPr wrap="square" lIns="0" tIns="0" rIns="0" bIns="0" rtlCol="0" anchor="t">
            <a:normAutofit/>
          </a:bodyPr>
          <a:lstStyle/>
          <a:p>
            <a:pPr marL="0" indent="0" algn="ctr">
              <a:lnSpc>
                <a:spcPct val="108000"/>
              </a:lnSpc>
              <a:buNone/>
            </a:pPr>
            <a:r>
              <a:rPr lang="en-US" sz="1400" kern="100" spc="14" dirty="0">
                <a:solidFill>
                  <a:srgbClr val="B9BEEA"/>
                </a:solidFill>
                <a:latin typeface="Lexend" pitchFamily="34" charset="0"/>
                <a:ea typeface="Lexend" pitchFamily="34" charset="-122"/>
                <a:cs typeface="Lexend" pitchFamily="34" charset="0"/>
              </a:rPr>
              <a:t>Architecture: User → React Frontend → Express API → MongoDB / Gemini API</a:t>
            </a:r>
            <a:endParaRPr lang="en-US" sz="1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PRACTICAL BUILDS</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Three more projects, three more lessons</a:t>
            </a:r>
            <a:endParaRPr lang="en-US" sz="2800" dirty="0"/>
          </a:p>
        </p:txBody>
      </p:sp>
      <p:sp>
        <p:nvSpPr>
          <p:cNvPr id="4" name="Shape 2"/>
          <p:cNvSpPr/>
          <p:nvPr/>
        </p:nvSpPr>
        <p:spPr>
          <a:xfrm>
            <a:off x="609585" y="1934766"/>
            <a:ext cx="3454314" cy="4313634"/>
          </a:xfrm>
          <a:prstGeom prst="rect">
            <a:avLst/>
          </a:prstGeom>
          <a:solidFill>
            <a:srgbClr val="1E1F66"/>
          </a:solidFill>
          <a:ln w="6350">
            <a:solidFill>
              <a:srgbClr val="2878FF"/>
            </a:solidFill>
            <a:prstDash val="solid"/>
          </a:ln>
        </p:spPr>
      </p:sp>
      <p:sp>
        <p:nvSpPr>
          <p:cNvPr id="5" name="Text 3"/>
          <p:cNvSpPr/>
          <p:nvPr/>
        </p:nvSpPr>
        <p:spPr>
          <a:xfrm>
            <a:off x="844529" y="2085261"/>
            <a:ext cx="321936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PROJECT 01</a:t>
            </a:r>
            <a:endParaRPr lang="en-US" sz="1300" dirty="0"/>
          </a:p>
        </p:txBody>
      </p:sp>
      <p:sp>
        <p:nvSpPr>
          <p:cNvPr id="6" name="Text 4"/>
          <p:cNvSpPr/>
          <p:nvPr/>
        </p:nvSpPr>
        <p:spPr>
          <a:xfrm>
            <a:off x="844529" y="2402681"/>
            <a:ext cx="2984425" cy="660400"/>
          </a:xfrm>
          <a:prstGeom prst="rect">
            <a:avLst/>
          </a:prstGeom>
          <a:noFill/>
          <a:ln/>
        </p:spPr>
        <p:txBody>
          <a:bodyPr wrap="square" lIns="0" tIns="0" rIns="0" bIns="0" rtlCol="0" anchor="t">
            <a:normAutofit/>
          </a:bodyPr>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0"/>
              </a:rPr>
              <a:t>Inventory Management System</a:t>
            </a:r>
            <a:endParaRPr lang="en-US" sz="2000" dirty="0"/>
          </a:p>
        </p:txBody>
      </p:sp>
      <p:sp>
        <p:nvSpPr>
          <p:cNvPr id="7" name="Text 5"/>
          <p:cNvSpPr/>
          <p:nvPr/>
        </p:nvSpPr>
        <p:spPr>
          <a:xfrm>
            <a:off x="844529" y="3269456"/>
            <a:ext cx="2984425" cy="2337792"/>
          </a:xfrm>
          <a:prstGeom prst="rect">
            <a:avLst/>
          </a:prstGeom>
          <a:noFill/>
          <a:ln/>
        </p:spPr>
        <p:txBody>
          <a:bodyPr wrap="square" lIns="0" tIns="0" rIns="0" bIns="0" rtlCol="0" anchor="t">
            <a:normAutofit lnSpcReduction="10000"/>
          </a:bodyPr>
          <a:lstStyle/>
          <a:p>
            <a:pPr marL="0" indent="0" algn="l">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0"/>
              </a:rPr>
              <a:t>Problem / solution / key learning:</a:t>
            </a:r>
            <a:r>
              <a:rPr lang="en-US" sz="1800" dirty="0">
                <a:solidFill>
                  <a:srgbClr val="E6E9FF"/>
                </a:solidFill>
                <a:latin typeface="Lexend" pitchFamily="34" charset="0"/>
                <a:ea typeface="Lexend" pitchFamily="34" charset="-122"/>
                <a:cs typeface="Lexend" pitchFamily="34" charset="0"/>
              </a:rPr>
              <a:t> Product management, stock tracking, CRUD.</a:t>
            </a:r>
            <a:endParaRPr lang="en-US" sz="1800" dirty="0"/>
          </a:p>
          <a:p>
            <a:pPr marL="0" indent="0" algn="l">
              <a:lnSpc>
                <a:spcPct val="113000"/>
              </a:lnSpc>
              <a:buNone/>
            </a:pPr>
            <a:r>
              <a:rPr lang="en-US" sz="1800" b="1" dirty="0">
                <a:solidFill>
                  <a:srgbClr val="E6E9FF"/>
                </a:solidFill>
                <a:latin typeface="Lexend Bold" pitchFamily="34" charset="0"/>
                <a:ea typeface="Lexend Bold" pitchFamily="34" charset="-122"/>
                <a:cs typeface="Lexend Bold" pitchFamily="34" charset="0"/>
              </a:rPr>
              <a:t>Technologies:</a:t>
            </a:r>
            <a:r>
              <a:rPr lang="en-US" sz="1800" dirty="0">
                <a:solidFill>
                  <a:srgbClr val="E6E9FF"/>
                </a:solidFill>
                <a:latin typeface="Lexend" pitchFamily="34" charset="0"/>
                <a:ea typeface="Lexend" pitchFamily="34" charset="-122"/>
                <a:cs typeface="Lexend" pitchFamily="34" charset="0"/>
              </a:rPr>
              <a:t> Node.js, Express, MongoDB, HTML/CSS/JavaScript.</a:t>
            </a:r>
            <a:endParaRPr lang="en-US" sz="1800" dirty="0"/>
          </a:p>
        </p:txBody>
      </p:sp>
      <p:sp>
        <p:nvSpPr>
          <p:cNvPr id="8" name="Shape 6"/>
          <p:cNvSpPr/>
          <p:nvPr/>
        </p:nvSpPr>
        <p:spPr>
          <a:xfrm>
            <a:off x="4368691" y="1934766"/>
            <a:ext cx="3454314" cy="4313634"/>
          </a:xfrm>
          <a:prstGeom prst="rect">
            <a:avLst/>
          </a:prstGeom>
          <a:solidFill>
            <a:srgbClr val="1E1F66"/>
          </a:solidFill>
          <a:ln w="6350">
            <a:solidFill>
              <a:srgbClr val="2878FF"/>
            </a:solidFill>
            <a:prstDash val="solid"/>
          </a:ln>
        </p:spPr>
      </p:sp>
      <p:sp>
        <p:nvSpPr>
          <p:cNvPr id="9" name="Text 7"/>
          <p:cNvSpPr/>
          <p:nvPr/>
        </p:nvSpPr>
        <p:spPr>
          <a:xfrm>
            <a:off x="4603635" y="2085261"/>
            <a:ext cx="321936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PROJECT 02</a:t>
            </a:r>
            <a:endParaRPr lang="en-US" sz="1300" dirty="0"/>
          </a:p>
        </p:txBody>
      </p:sp>
      <p:sp>
        <p:nvSpPr>
          <p:cNvPr id="10" name="Text 8"/>
          <p:cNvSpPr/>
          <p:nvPr/>
        </p:nvSpPr>
        <p:spPr>
          <a:xfrm>
            <a:off x="4603635" y="2402681"/>
            <a:ext cx="2984425"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0"/>
              </a:rPr>
              <a:t>ProjectFlow</a:t>
            </a:r>
            <a:endParaRPr lang="en-US" sz="2000" dirty="0"/>
          </a:p>
        </p:txBody>
      </p:sp>
      <p:sp>
        <p:nvSpPr>
          <p:cNvPr id="11" name="Text 9"/>
          <p:cNvSpPr/>
          <p:nvPr/>
        </p:nvSpPr>
        <p:spPr>
          <a:xfrm>
            <a:off x="4603635" y="2939256"/>
            <a:ext cx="2984425" cy="3132733"/>
          </a:xfrm>
          <a:prstGeom prst="rect">
            <a:avLst/>
          </a:prstGeom>
          <a:noFill/>
          <a:ln/>
        </p:spPr>
        <p:txBody>
          <a:bodyPr wrap="square" lIns="0" tIns="0" rIns="0" bIns="0" rtlCol="0" anchor="t">
            <a:normAutofit lnSpcReduction="10000"/>
          </a:bodyPr>
          <a:lstStyle/>
          <a:p>
            <a:pPr marL="0" indent="0" algn="l">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0"/>
              </a:rPr>
              <a:t>Problem / solution:</a:t>
            </a:r>
            <a:r>
              <a:rPr lang="en-US" sz="1800" dirty="0">
                <a:solidFill>
                  <a:srgbClr val="E6E9FF"/>
                </a:solidFill>
                <a:latin typeface="Lexend" pitchFamily="34" charset="0"/>
                <a:ea typeface="Lexend" pitchFamily="34" charset="-122"/>
                <a:cs typeface="Lexend" pitchFamily="34" charset="0"/>
              </a:rPr>
              <a:t> MERN project manager with JWT authentication, protected routes.</a:t>
            </a:r>
            <a:endParaRPr lang="en-US" sz="1800" dirty="0"/>
          </a:p>
          <a:p>
            <a:pPr marL="0" indent="0" algn="l">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0"/>
              </a:rPr>
              <a:t>Technologies:</a:t>
            </a:r>
            <a:r>
              <a:rPr lang="en-US" sz="1800" dirty="0">
                <a:solidFill>
                  <a:srgbClr val="E6E9FF"/>
                </a:solidFill>
                <a:latin typeface="Lexend" pitchFamily="34" charset="0"/>
                <a:ea typeface="Lexend" pitchFamily="34" charset="-122"/>
                <a:cs typeface="Lexend" pitchFamily="34" charset="0"/>
              </a:rPr>
              <a:t> MERN, JWT authentication.</a:t>
            </a:r>
            <a:endParaRPr lang="en-US" sz="1800" dirty="0"/>
          </a:p>
          <a:p>
            <a:pPr marL="0" indent="0" algn="l">
              <a:lnSpc>
                <a:spcPct val="113000"/>
              </a:lnSpc>
              <a:buNone/>
            </a:pPr>
            <a:r>
              <a:rPr lang="en-US" sz="1800" b="1" dirty="0">
                <a:solidFill>
                  <a:srgbClr val="E6E9FF"/>
                </a:solidFill>
                <a:latin typeface="Lexend Bold" pitchFamily="34" charset="0"/>
                <a:ea typeface="Lexend Bold" pitchFamily="34" charset="-122"/>
                <a:cs typeface="Lexend Bold" pitchFamily="34" charset="0"/>
              </a:rPr>
              <a:t>Key learning:</a:t>
            </a:r>
            <a:r>
              <a:rPr lang="en-US" sz="1800" dirty="0">
                <a:solidFill>
                  <a:srgbClr val="E6E9FF"/>
                </a:solidFill>
                <a:latin typeface="Lexend" pitchFamily="34" charset="0"/>
                <a:ea typeface="Lexend" pitchFamily="34" charset="-122"/>
                <a:cs typeface="Lexend" pitchFamily="34" charset="0"/>
              </a:rPr>
              <a:t> Dashboard calculates statistics on page load.</a:t>
            </a:r>
            <a:endParaRPr lang="en-US" sz="1800" dirty="0"/>
          </a:p>
        </p:txBody>
      </p:sp>
      <p:sp>
        <p:nvSpPr>
          <p:cNvPr id="12" name="Shape 10"/>
          <p:cNvSpPr/>
          <p:nvPr/>
        </p:nvSpPr>
        <p:spPr>
          <a:xfrm>
            <a:off x="8127797" y="1934766"/>
            <a:ext cx="3454314" cy="4313634"/>
          </a:xfrm>
          <a:prstGeom prst="rect">
            <a:avLst/>
          </a:prstGeom>
          <a:solidFill>
            <a:srgbClr val="1E1F66"/>
          </a:solidFill>
          <a:ln w="6350">
            <a:solidFill>
              <a:srgbClr val="2878FF"/>
            </a:solidFill>
            <a:prstDash val="solid"/>
          </a:ln>
        </p:spPr>
      </p:sp>
      <p:sp>
        <p:nvSpPr>
          <p:cNvPr id="13" name="Text 11"/>
          <p:cNvSpPr/>
          <p:nvPr/>
        </p:nvSpPr>
        <p:spPr>
          <a:xfrm>
            <a:off x="8362741" y="2085261"/>
            <a:ext cx="2984425" cy="396081"/>
          </a:xfrm>
          <a:prstGeom prst="rect">
            <a:avLst/>
          </a:prstGeom>
          <a:noFill/>
          <a:ln/>
        </p:spPr>
        <p:txBody>
          <a:bodyPr wrap="square" lIns="0" tIns="0" rIns="0" bIns="0" rtlCol="0" anchor="t">
            <a:normAutofit lnSpcReduction="10000"/>
          </a:bodyPr>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PROJECT 03 · LEARNING PROTOTYPE</a:t>
            </a:r>
            <a:endParaRPr lang="en-US" sz="1300" dirty="0"/>
          </a:p>
        </p:txBody>
      </p:sp>
      <p:sp>
        <p:nvSpPr>
          <p:cNvPr id="14" name="Text 12"/>
          <p:cNvSpPr/>
          <p:nvPr/>
        </p:nvSpPr>
        <p:spPr>
          <a:xfrm>
            <a:off x="8362741" y="2600722"/>
            <a:ext cx="2984425"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0"/>
              </a:rPr>
              <a:t>Smart Spam Detector</a:t>
            </a:r>
            <a:endParaRPr lang="en-US" sz="2000" dirty="0"/>
          </a:p>
        </p:txBody>
      </p:sp>
      <p:sp>
        <p:nvSpPr>
          <p:cNvPr id="15" name="Text 13"/>
          <p:cNvSpPr/>
          <p:nvPr/>
        </p:nvSpPr>
        <p:spPr>
          <a:xfrm>
            <a:off x="8362741" y="3137297"/>
            <a:ext cx="2984425" cy="2337792"/>
          </a:xfrm>
          <a:prstGeom prst="rect">
            <a:avLst/>
          </a:prstGeom>
          <a:noFill/>
          <a:ln/>
        </p:spPr>
        <p:txBody>
          <a:bodyPr wrap="square" lIns="0" tIns="0" rIns="0" bIns="0" rtlCol="0" anchor="t">
            <a:normAutofit lnSpcReduction="10000"/>
          </a:bodyPr>
          <a:lstStyle/>
          <a:p>
            <a:pPr marL="0" indent="0" algn="l">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0"/>
              </a:rPr>
              <a:t>Problem / solution:</a:t>
            </a:r>
            <a:r>
              <a:rPr lang="en-US" sz="1800" dirty="0">
                <a:solidFill>
                  <a:srgbClr val="E6E9FF"/>
                </a:solidFill>
                <a:latin typeface="Lexend" pitchFamily="34" charset="0"/>
                <a:ea typeface="Lexend" pitchFamily="34" charset="-122"/>
                <a:cs typeface="Lexend" pitchFamily="34" charset="0"/>
              </a:rPr>
              <a:t> Learning prototype exploring spam classification.</a:t>
            </a:r>
            <a:endParaRPr lang="en-US" sz="1800" dirty="0"/>
          </a:p>
          <a:p>
            <a:pPr marL="0" indent="0" algn="l">
              <a:lnSpc>
                <a:spcPct val="113000"/>
              </a:lnSpc>
              <a:buNone/>
            </a:pPr>
            <a:r>
              <a:rPr lang="en-US" sz="1800" b="1" dirty="0">
                <a:solidFill>
                  <a:srgbClr val="E6E9FF"/>
                </a:solidFill>
                <a:latin typeface="Lexend Bold" pitchFamily="34" charset="0"/>
                <a:ea typeface="Lexend Bold" pitchFamily="34" charset="-122"/>
                <a:cs typeface="Lexend Bold" pitchFamily="34" charset="0"/>
              </a:rPr>
              <a:t>Technologies / key learning:</a:t>
            </a:r>
            <a:r>
              <a:rPr lang="en-US" sz="1800" dirty="0">
                <a:solidFill>
                  <a:srgbClr val="E6E9FF"/>
                </a:solidFill>
                <a:latin typeface="Lexend" pitchFamily="34" charset="0"/>
                <a:ea typeface="Lexend" pitchFamily="34" charset="-122"/>
                <a:cs typeface="Lexend" pitchFamily="34" charset="0"/>
              </a:rPr>
              <a:t> Text processing and ML concepts.</a:t>
            </a:r>
            <a:endParaRPr lang="en-US" sz="1800" dirty="0"/>
          </a:p>
        </p:txBody>
      </p:sp>
      <p:sp>
        <p:nvSpPr>
          <p:cNvPr id="16" name="Text 14"/>
          <p:cNvSpPr/>
          <p:nvPr/>
        </p:nvSpPr>
        <p:spPr>
          <a:xfrm>
            <a:off x="8362741" y="5661779"/>
            <a:ext cx="2984425" cy="462161"/>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0"/>
              </a:rPr>
              <a:t>No implementation details unless verified.</a:t>
            </a:r>
            <a:endParaRPr lang="en-US" sz="1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1255593"/>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CHALLENGE → APPROACH → LESSON</a:t>
            </a:r>
            <a:endParaRPr lang="en-US" sz="1300" dirty="0"/>
          </a:p>
        </p:txBody>
      </p:sp>
      <p:sp>
        <p:nvSpPr>
          <p:cNvPr id="3" name="Text 1"/>
          <p:cNvSpPr/>
          <p:nvPr/>
        </p:nvSpPr>
        <p:spPr>
          <a:xfrm>
            <a:off x="609585" y="1575223"/>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Hard problems get solved in small steps</a:t>
            </a:r>
            <a:endParaRPr lang="en-US" sz="2800" dirty="0"/>
          </a:p>
        </p:txBody>
      </p:sp>
      <p:sp>
        <p:nvSpPr>
          <p:cNvPr id="4" name="Shape 2"/>
          <p:cNvSpPr/>
          <p:nvPr/>
        </p:nvSpPr>
        <p:spPr>
          <a:xfrm>
            <a:off x="609585" y="2270820"/>
            <a:ext cx="3454314" cy="3348633"/>
          </a:xfrm>
          <a:prstGeom prst="rect">
            <a:avLst/>
          </a:prstGeom>
          <a:solidFill>
            <a:srgbClr val="1E1F66"/>
          </a:solidFill>
          <a:ln/>
        </p:spPr>
      </p:sp>
      <p:sp>
        <p:nvSpPr>
          <p:cNvPr id="5" name="Text 3"/>
          <p:cNvSpPr/>
          <p:nvPr/>
        </p:nvSpPr>
        <p:spPr>
          <a:xfrm>
            <a:off x="838179" y="2516565"/>
            <a:ext cx="322571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CHALLENGE</a:t>
            </a:r>
            <a:endParaRPr lang="en-US" sz="1300" dirty="0"/>
          </a:p>
        </p:txBody>
      </p:sp>
      <p:sp>
        <p:nvSpPr>
          <p:cNvPr id="6" name="Text 4"/>
          <p:cNvSpPr/>
          <p:nvPr/>
        </p:nvSpPr>
        <p:spPr>
          <a:xfrm>
            <a:off x="838179" y="2883833"/>
            <a:ext cx="2997125"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0"/>
              </a:rPr>
              <a:t>Break complex problems into smaller tasks</a:t>
            </a:r>
            <a:endParaRPr lang="en-US" sz="1800" dirty="0"/>
          </a:p>
        </p:txBody>
      </p:sp>
      <p:sp>
        <p:nvSpPr>
          <p:cNvPr id="7" name="Shape 5"/>
          <p:cNvSpPr/>
          <p:nvPr/>
        </p:nvSpPr>
        <p:spPr>
          <a:xfrm>
            <a:off x="4368691" y="2270820"/>
            <a:ext cx="3454314" cy="3348633"/>
          </a:xfrm>
          <a:prstGeom prst="rect">
            <a:avLst/>
          </a:prstGeom>
          <a:solidFill>
            <a:srgbClr val="1E1F66"/>
          </a:solidFill>
          <a:ln/>
        </p:spPr>
      </p:sp>
      <p:sp>
        <p:nvSpPr>
          <p:cNvPr id="8" name="Text 6"/>
          <p:cNvSpPr/>
          <p:nvPr/>
        </p:nvSpPr>
        <p:spPr>
          <a:xfrm>
            <a:off x="4597285" y="2516565"/>
            <a:ext cx="322571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APPROACH</a:t>
            </a:r>
            <a:endParaRPr lang="en-US" sz="1300" dirty="0"/>
          </a:p>
        </p:txBody>
      </p:sp>
      <p:sp>
        <p:nvSpPr>
          <p:cNvPr id="9" name="Text 7"/>
          <p:cNvSpPr/>
          <p:nvPr/>
        </p:nvSpPr>
        <p:spPr>
          <a:xfrm>
            <a:off x="4597285" y="2875260"/>
            <a:ext cx="2997125" cy="2515592"/>
          </a:xfrm>
          <a:prstGeom prst="rect">
            <a:avLst/>
          </a:prstGeom>
          <a:noFill/>
          <a:ln/>
        </p:spPr>
        <p:txBody>
          <a:bodyPr wrap="square" lIns="0" tIns="0" rIns="0" bIns="0" rtlCol="0" anchor="t">
            <a:normAutofit lnSpcReduction="10000"/>
          </a:bodyPr>
          <a:lstStyle/>
          <a:p>
            <a:pPr marL="0" indent="0" algn="l">
              <a:lnSpc>
                <a:spcPct val="113000"/>
              </a:lnSpc>
              <a:spcAft>
                <a:spcPts val="1350"/>
              </a:spcAft>
              <a:buNone/>
            </a:pPr>
            <a:r>
              <a:rPr lang="en-US" sz="1800" dirty="0">
                <a:solidFill>
                  <a:srgbClr val="E6E9FF"/>
                </a:solidFill>
                <a:latin typeface="Lexend" pitchFamily="34" charset="0"/>
                <a:ea typeface="Lexend" pitchFamily="34" charset="-122"/>
                <a:cs typeface="Lexend" pitchFamily="34" charset="0"/>
              </a:rPr>
              <a:t>Debug errors systematically</a:t>
            </a:r>
            <a:endParaRPr lang="en-US" sz="1800" dirty="0"/>
          </a:p>
          <a:p>
            <a:pPr marL="0" indent="0" algn="l">
              <a:lnSpc>
                <a:spcPct val="113000"/>
              </a:lnSpc>
              <a:spcAft>
                <a:spcPts val="1350"/>
              </a:spcAft>
              <a:buNone/>
            </a:pPr>
            <a:r>
              <a:rPr lang="en-US" sz="1800" dirty="0">
                <a:solidFill>
                  <a:srgbClr val="E6E9FF"/>
                </a:solidFill>
                <a:latin typeface="Lexend" pitchFamily="34" charset="0"/>
                <a:ea typeface="Lexend" pitchFamily="34" charset="-122"/>
                <a:cs typeface="Lexend" pitchFamily="34" charset="0"/>
              </a:rPr>
              <a:t>Understand data flow between frontend and backend</a:t>
            </a:r>
            <a:endParaRPr lang="en-US" sz="1800" dirty="0"/>
          </a:p>
          <a:p>
            <a:pPr marL="0" indent="0" algn="l">
              <a:lnSpc>
                <a:spcPct val="113000"/>
              </a:lnSpc>
              <a:buNone/>
            </a:pPr>
            <a:r>
              <a:rPr lang="en-US" sz="1800" dirty="0">
                <a:solidFill>
                  <a:srgbClr val="E6E9FF"/>
                </a:solidFill>
                <a:latin typeface="Lexend" pitchFamily="34" charset="0"/>
                <a:ea typeface="Lexend" pitchFamily="34" charset="-122"/>
                <a:cs typeface="Lexend" pitchFamily="34" charset="0"/>
              </a:rPr>
              <a:t>Handle API requests and authentication</a:t>
            </a:r>
            <a:endParaRPr lang="en-US" sz="1800" dirty="0"/>
          </a:p>
        </p:txBody>
      </p:sp>
      <p:sp>
        <p:nvSpPr>
          <p:cNvPr id="10" name="Shape 8"/>
          <p:cNvSpPr/>
          <p:nvPr/>
        </p:nvSpPr>
        <p:spPr>
          <a:xfrm>
            <a:off x="8127797" y="2270820"/>
            <a:ext cx="3454314" cy="3348633"/>
          </a:xfrm>
          <a:prstGeom prst="rect">
            <a:avLst/>
          </a:prstGeom>
          <a:solidFill>
            <a:srgbClr val="1E1F66"/>
          </a:solidFill>
          <a:ln/>
        </p:spPr>
      </p:sp>
      <p:sp>
        <p:nvSpPr>
          <p:cNvPr id="11" name="Text 9"/>
          <p:cNvSpPr/>
          <p:nvPr/>
        </p:nvSpPr>
        <p:spPr>
          <a:xfrm>
            <a:off x="8356391" y="2516565"/>
            <a:ext cx="322571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LESSON</a:t>
            </a:r>
            <a:endParaRPr lang="en-US" sz="1300" dirty="0"/>
          </a:p>
        </p:txBody>
      </p:sp>
      <p:sp>
        <p:nvSpPr>
          <p:cNvPr id="12" name="Text 10"/>
          <p:cNvSpPr/>
          <p:nvPr/>
        </p:nvSpPr>
        <p:spPr>
          <a:xfrm>
            <a:off x="8356391" y="2883833"/>
            <a:ext cx="2997125"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0"/>
              </a:rPr>
              <a:t>Improve readability and documentation</a:t>
            </a:r>
            <a:endParaRPr lang="en-US" sz="1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CODE QUALITY &amp; COMPLEXITY</a:t>
            </a:r>
            <a:endParaRPr lang="en-US" sz="1300" dirty="0"/>
          </a:p>
        </p:txBody>
      </p:sp>
      <p:sp>
        <p:nvSpPr>
          <p:cNvPr id="3" name="Text 1"/>
          <p:cNvSpPr/>
          <p:nvPr/>
        </p:nvSpPr>
        <p:spPr>
          <a:xfrm>
            <a:off x="609585" y="946375"/>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Readable code first, optimize with evidence</a:t>
            </a:r>
            <a:endParaRPr lang="en-US" sz="2800" dirty="0"/>
          </a:p>
        </p:txBody>
      </p:sp>
      <p:sp>
        <p:nvSpPr>
          <p:cNvPr id="4" name="Text 2"/>
          <p:cNvSpPr/>
          <p:nvPr/>
        </p:nvSpPr>
        <p:spPr>
          <a:xfrm>
            <a:off x="609585" y="1653401"/>
            <a:ext cx="10972526" cy="822920"/>
          </a:xfrm>
          <a:prstGeom prst="rect">
            <a:avLst/>
          </a:prstGeom>
          <a:noFill/>
          <a:ln/>
        </p:spPr>
        <p:txBody>
          <a:bodyPr wrap="square" lIns="0" tIns="0" rIns="0" bIns="0" rtlCol="0" anchor="t">
            <a:normAutofit lnSpcReduction="10000"/>
          </a:bodyPr>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0"/>
              </a:rPr>
              <a:t>Write readable, maintainable code. Test edge cases. Use appropriate data structures. Measure before optimizing.</a:t>
            </a:r>
            <a:endParaRPr lang="en-US" sz="2400" dirty="0"/>
          </a:p>
        </p:txBody>
      </p:sp>
      <p:sp>
        <p:nvSpPr>
          <p:cNvPr id="5" name="Shape 3"/>
          <p:cNvSpPr/>
          <p:nvPr/>
        </p:nvSpPr>
        <p:spPr>
          <a:xfrm>
            <a:off x="609585" y="2737941"/>
            <a:ext cx="5257668" cy="3510459"/>
          </a:xfrm>
          <a:prstGeom prst="roundRect">
            <a:avLst>
              <a:gd name="adj" fmla="val 4341"/>
            </a:avLst>
          </a:prstGeom>
          <a:solidFill>
            <a:srgbClr val="1E1F66"/>
          </a:solidFill>
          <a:ln w="63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920727" y="3835975"/>
            <a:ext cx="4946526"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INITIAL APPROACH</a:t>
            </a:r>
            <a:endParaRPr lang="en-US" sz="1300" dirty="0"/>
          </a:p>
        </p:txBody>
      </p:sp>
      <p:sp>
        <p:nvSpPr>
          <p:cNvPr id="7" name="Text 5"/>
          <p:cNvSpPr/>
          <p:nvPr/>
        </p:nvSpPr>
        <p:spPr>
          <a:xfrm>
            <a:off x="920727" y="4155936"/>
            <a:ext cx="4635384"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Two Sum</a:t>
            </a:r>
            <a:endParaRPr lang="en-US" sz="2400" dirty="0"/>
          </a:p>
        </p:txBody>
      </p:sp>
      <p:sp>
        <p:nvSpPr>
          <p:cNvPr id="8" name="Text 6"/>
          <p:cNvSpPr/>
          <p:nvPr/>
        </p:nvSpPr>
        <p:spPr>
          <a:xfrm>
            <a:off x="920727" y="4767382"/>
            <a:ext cx="4946526" cy="411460"/>
          </a:xfrm>
          <a:prstGeom prst="rect">
            <a:avLst/>
          </a:prstGeom>
          <a:noFill/>
          <a:ln/>
        </p:spPr>
        <p:txBody>
          <a:bodyPr wrap="none" lIns="0" tIns="0" rIns="0" bIns="0" rtlCol="0" anchor="t"/>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0"/>
              </a:rPr>
              <a:t>Nested loops</a:t>
            </a:r>
            <a:endParaRPr lang="en-US" sz="2400" dirty="0"/>
          </a:p>
        </p:txBody>
      </p:sp>
      <p:sp>
        <p:nvSpPr>
          <p:cNvPr id="9" name="Shape 7"/>
          <p:cNvSpPr/>
          <p:nvPr/>
        </p:nvSpPr>
        <p:spPr>
          <a:xfrm>
            <a:off x="6324442" y="2737941"/>
            <a:ext cx="5257668" cy="3510459"/>
          </a:xfrm>
          <a:prstGeom prst="roundRect">
            <a:avLst>
              <a:gd name="adj" fmla="val 4341"/>
            </a:avLst>
          </a:prstGeom>
          <a:solidFill>
            <a:srgbClr val="1E1F66"/>
          </a:solidFill>
          <a:ln w="6350">
            <a:solidFill>
              <a:srgbClr val="FFA500"/>
            </a:solidFill>
            <a:prstDash val="solid"/>
          </a:ln>
          <a:effectLst>
            <a:outerShdw blurRad="201930" dist="127" dir="16200000" algn="bl" rotWithShape="0">
              <a:srgbClr val="FF9347">
                <a:alpha val="30000"/>
              </a:srgbClr>
            </a:outerShdw>
          </a:effectLst>
        </p:spPr>
      </p:sp>
      <p:sp>
        <p:nvSpPr>
          <p:cNvPr id="10" name="Text 8"/>
          <p:cNvSpPr/>
          <p:nvPr/>
        </p:nvSpPr>
        <p:spPr>
          <a:xfrm>
            <a:off x="6635584" y="3835975"/>
            <a:ext cx="4946526"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0"/>
              </a:rPr>
              <a:t>REFACTOR</a:t>
            </a:r>
            <a:endParaRPr lang="en-US" sz="1300" dirty="0"/>
          </a:p>
        </p:txBody>
      </p:sp>
      <p:sp>
        <p:nvSpPr>
          <p:cNvPr id="11" name="Text 9"/>
          <p:cNvSpPr/>
          <p:nvPr/>
        </p:nvSpPr>
        <p:spPr>
          <a:xfrm>
            <a:off x="6635584" y="4155936"/>
            <a:ext cx="4635384"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Two Sum</a:t>
            </a:r>
            <a:endParaRPr lang="en-US" sz="2400" dirty="0"/>
          </a:p>
        </p:txBody>
      </p:sp>
      <p:sp>
        <p:nvSpPr>
          <p:cNvPr id="12" name="Text 10"/>
          <p:cNvSpPr/>
          <p:nvPr/>
        </p:nvSpPr>
        <p:spPr>
          <a:xfrm>
            <a:off x="6635584" y="4767382"/>
            <a:ext cx="4946526" cy="411460"/>
          </a:xfrm>
          <a:prstGeom prst="rect">
            <a:avLst/>
          </a:prstGeom>
          <a:noFill/>
          <a:ln/>
        </p:spPr>
        <p:txBody>
          <a:bodyPr wrap="none" lIns="0" tIns="0" rIns="0" bIns="0" rtlCol="0" anchor="t"/>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0"/>
              </a:rPr>
              <a:t>Hash map lookup in one pass</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4509"/>
            <a:ext cx="10972526"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Portfolio and evidence</a:t>
            </a:r>
            <a:endParaRPr lang="en-US" sz="2800" dirty="0"/>
          </a:p>
        </p:txBody>
      </p:sp>
      <p:sp>
        <p:nvSpPr>
          <p:cNvPr id="3" name="Shape 1"/>
          <p:cNvSpPr/>
          <p:nvPr/>
        </p:nvSpPr>
        <p:spPr>
          <a:xfrm>
            <a:off x="609585" y="1320105"/>
            <a:ext cx="5333867" cy="4209058"/>
          </a:xfrm>
          <a:prstGeom prst="roundRect">
            <a:avLst>
              <a:gd name="adj" fmla="val 3621"/>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4" name="Text 2"/>
          <p:cNvSpPr/>
          <p:nvPr/>
        </p:nvSpPr>
        <p:spPr>
          <a:xfrm>
            <a:off x="857229" y="1582995"/>
            <a:ext cx="483857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GitHub profile</a:t>
            </a:r>
            <a:endParaRPr lang="en-US" sz="2400" dirty="0"/>
          </a:p>
        </p:txBody>
      </p:sp>
      <p:sp>
        <p:nvSpPr>
          <p:cNvPr id="5" name="Text 3"/>
          <p:cNvSpPr/>
          <p:nvPr/>
        </p:nvSpPr>
        <p:spPr>
          <a:xfrm>
            <a:off x="857229" y="2191583"/>
            <a:ext cx="5086223" cy="308570"/>
          </a:xfrm>
          <a:prstGeom prst="rect">
            <a:avLst/>
          </a:prstGeom>
          <a:noFill/>
          <a:ln/>
        </p:spPr>
        <p:txBody>
          <a:bodyPr wrap="none" lIns="0" tIns="0" rIns="0" bIns="0" rtlCol="0" anchor="t"/>
          <a:lstStyle/>
          <a:p>
            <a:pPr marL="0" indent="0" algn="l">
              <a:lnSpc>
                <a:spcPct val="113000"/>
              </a:lnSpc>
              <a:buNone/>
            </a:pPr>
            <a:r>
              <a:rPr lang="en-US" sz="1800" dirty="0">
                <a:solidFill>
                  <a:srgbClr val="E6E9FF"/>
                </a:solidFill>
                <a:highlight>
                  <a:srgbClr val="1E1F66"/>
                </a:highlight>
                <a:latin typeface="Consolas" pitchFamily="34" charset="0"/>
                <a:ea typeface="Consolas" pitchFamily="34" charset="-122"/>
                <a:cs typeface="Consolas" pitchFamily="34" charset="0"/>
              </a:rPr>
              <a:t>https://github.com/ramyanagesh29</a:t>
            </a:r>
            <a:endParaRPr lang="en-US" sz="1800" dirty="0"/>
          </a:p>
        </p:txBody>
      </p:sp>
      <p:sp>
        <p:nvSpPr>
          <p:cNvPr id="6" name="Text 4"/>
          <p:cNvSpPr/>
          <p:nvPr/>
        </p:nvSpPr>
        <p:spPr>
          <a:xfrm>
            <a:off x="857229" y="2779871"/>
            <a:ext cx="483857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Challenge repository</a:t>
            </a:r>
            <a:endParaRPr lang="en-US" sz="2400" dirty="0"/>
          </a:p>
        </p:txBody>
      </p:sp>
      <p:sp>
        <p:nvSpPr>
          <p:cNvPr id="7" name="Text 5"/>
          <p:cNvSpPr/>
          <p:nvPr/>
        </p:nvSpPr>
        <p:spPr>
          <a:xfrm>
            <a:off x="857229" y="3388459"/>
            <a:ext cx="4838579" cy="617141"/>
          </a:xfrm>
          <a:prstGeom prst="rect">
            <a:avLst/>
          </a:prstGeom>
          <a:noFill/>
          <a:ln/>
        </p:spPr>
        <p:txBody>
          <a:bodyPr wrap="square" lIns="0" tIns="0" rIns="0" bIns="0" rtlCol="0" anchor="t">
            <a:normAutofit fontScale="85000" lnSpcReduction="10000"/>
          </a:bodyPr>
          <a:lstStyle/>
          <a:p>
            <a:pPr marL="0" indent="0" algn="l">
              <a:lnSpc>
                <a:spcPct val="113000"/>
              </a:lnSpc>
              <a:buNone/>
            </a:pPr>
            <a:r>
              <a:rPr lang="en-US" sz="1800" dirty="0">
                <a:solidFill>
                  <a:srgbClr val="E6E9FF"/>
                </a:solidFill>
                <a:highlight>
                  <a:srgbClr val="1E1F66"/>
                </a:highlight>
                <a:latin typeface="Consolas" pitchFamily="34" charset="0"/>
                <a:ea typeface="Consolas" pitchFamily="34" charset="-122"/>
                <a:cs typeface="Consolas" pitchFamily="34" charset="0"/>
              </a:rPr>
              <a:t>https://github.com/ramyanagesh29/ABTalks-60-days-Challenge-for-Software-Engineering</a:t>
            </a:r>
            <a:endParaRPr lang="en-US" sz="1800" dirty="0"/>
          </a:p>
        </p:txBody>
      </p:sp>
      <p:sp>
        <p:nvSpPr>
          <p:cNvPr id="8" name="Shape 6"/>
          <p:cNvSpPr/>
          <p:nvPr/>
        </p:nvSpPr>
        <p:spPr>
          <a:xfrm>
            <a:off x="6248244" y="1320105"/>
            <a:ext cx="5333867" cy="4209058"/>
          </a:xfrm>
          <a:prstGeom prst="roundRect">
            <a:avLst>
              <a:gd name="adj" fmla="val 3621"/>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9" name="Text 7"/>
          <p:cNvSpPr/>
          <p:nvPr/>
        </p:nvSpPr>
        <p:spPr>
          <a:xfrm>
            <a:off x="6495887" y="1582995"/>
            <a:ext cx="4838579"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Project repository links</a:t>
            </a:r>
            <a:endParaRPr lang="en-US" sz="2400" dirty="0"/>
          </a:p>
        </p:txBody>
      </p:sp>
      <p:sp>
        <p:nvSpPr>
          <p:cNvPr id="10" name="Text 8"/>
          <p:cNvSpPr/>
          <p:nvPr/>
        </p:nvSpPr>
        <p:spPr>
          <a:xfrm>
            <a:off x="6495887" y="2191583"/>
            <a:ext cx="5022197" cy="417393"/>
          </a:xfrm>
          <a:prstGeom prst="rect">
            <a:avLst/>
          </a:prstGeom>
          <a:noFill/>
          <a:ln/>
        </p:spPr>
        <p:txBody>
          <a:bodyPr wrap="none" lIns="0" tIns="0" rIns="0" bIns="0" rtlCol="0" anchor="t"/>
          <a:lstStyle/>
          <a:p>
            <a:pPr>
              <a:lnSpc>
                <a:spcPct val="113000"/>
              </a:lnSpc>
            </a:pPr>
            <a:r>
              <a:rPr lang="en-US" dirty="0" smtClean="0">
                <a:solidFill>
                  <a:srgbClr val="E6E9FF"/>
                </a:solidFill>
                <a:latin typeface="Lexend" pitchFamily="34" charset="0"/>
                <a:ea typeface="Lexend" pitchFamily="34" charset="-122"/>
                <a:cs typeface="Lexend" pitchFamily="34" charset="0"/>
              </a:rPr>
              <a:t>https</a:t>
            </a:r>
            <a:r>
              <a:rPr lang="en-US" dirty="0">
                <a:solidFill>
                  <a:srgbClr val="E6E9FF"/>
                </a:solidFill>
                <a:latin typeface="Lexend" pitchFamily="34" charset="0"/>
                <a:ea typeface="Lexend" pitchFamily="34" charset="-122"/>
                <a:cs typeface="Lexend" pitchFamily="34" charset="0"/>
              </a:rPr>
              <a:t>://</a:t>
            </a:r>
            <a:r>
              <a:rPr lang="en-US" sz="1400" dirty="0">
                <a:solidFill>
                  <a:srgbClr val="E6E9FF"/>
                </a:solidFill>
                <a:latin typeface="Lexend" pitchFamily="34" charset="0"/>
                <a:ea typeface="Lexend" pitchFamily="34" charset="-122"/>
                <a:cs typeface="Lexend" pitchFamily="34" charset="0"/>
              </a:rPr>
              <a:t>github.com/ramyanagesh29/gd-prep-coach</a:t>
            </a:r>
            <a:endParaRPr lang="en-US" sz="1400" dirty="0"/>
          </a:p>
        </p:txBody>
      </p:sp>
      <p:sp>
        <p:nvSpPr>
          <p:cNvPr id="11" name="Text 9"/>
          <p:cNvSpPr/>
          <p:nvPr/>
        </p:nvSpPr>
        <p:spPr>
          <a:xfrm>
            <a:off x="6495887" y="2779871"/>
            <a:ext cx="4838579" cy="396180"/>
          </a:xfrm>
          <a:prstGeom prst="rect">
            <a:avLst/>
          </a:prstGeom>
          <a:noFill/>
          <a:ln/>
        </p:spPr>
        <p:txBody>
          <a:bodyPr wrap="none" lIns="0" tIns="0" rIns="0" bIns="0" rtlCol="0" anchor="t"/>
          <a:lstStyle/>
          <a:p>
            <a:pPr marL="0" indent="0" algn="l">
              <a:lnSpc>
                <a:spcPct val="108000"/>
              </a:lnSpc>
              <a:buNone/>
            </a:pPr>
            <a:r>
              <a:rPr lang="en-US" sz="2400" kern="100" spc="-12" dirty="0" err="1" smtClean="0">
                <a:solidFill>
                  <a:srgbClr val="E6E9FF"/>
                </a:solidFill>
                <a:latin typeface="Lexend Medium" pitchFamily="34" charset="0"/>
              </a:rPr>
              <a:t>Depolyed</a:t>
            </a:r>
            <a:r>
              <a:rPr lang="en-US" sz="2400" kern="100" spc="-12" dirty="0" smtClean="0">
                <a:solidFill>
                  <a:srgbClr val="E6E9FF"/>
                </a:solidFill>
                <a:latin typeface="Lexend Medium" pitchFamily="34" charset="0"/>
              </a:rPr>
              <a:t> Link</a:t>
            </a:r>
            <a:endParaRPr lang="en-US" sz="2400" dirty="0"/>
          </a:p>
        </p:txBody>
      </p:sp>
      <p:sp>
        <p:nvSpPr>
          <p:cNvPr id="12" name="Text 10"/>
          <p:cNvSpPr/>
          <p:nvPr/>
        </p:nvSpPr>
        <p:spPr>
          <a:xfrm>
            <a:off x="6495887" y="3388459"/>
            <a:ext cx="5086223" cy="308570"/>
          </a:xfrm>
          <a:prstGeom prst="rect">
            <a:avLst/>
          </a:prstGeom>
          <a:noFill/>
          <a:ln/>
        </p:spPr>
        <p:txBody>
          <a:bodyPr wrap="none" lIns="0" tIns="0" rIns="0" bIns="0" rtlCol="0" anchor="t"/>
          <a:lstStyle/>
          <a:p>
            <a:pPr>
              <a:lnSpc>
                <a:spcPct val="113000"/>
              </a:lnSpc>
            </a:pPr>
            <a:r>
              <a:rPr lang="en-US" dirty="0" smtClean="0">
                <a:solidFill>
                  <a:srgbClr val="E6E9FF"/>
                </a:solidFill>
                <a:latin typeface="Lexend" pitchFamily="34" charset="0"/>
                <a:ea typeface="Lexend" pitchFamily="34" charset="-122"/>
                <a:cs typeface="Lexend" pitchFamily="34" charset="0"/>
              </a:rPr>
              <a:t>https</a:t>
            </a:r>
            <a:r>
              <a:rPr lang="en-US" dirty="0">
                <a:solidFill>
                  <a:srgbClr val="E6E9FF"/>
                </a:solidFill>
                <a:latin typeface="Lexend" pitchFamily="34" charset="0"/>
                <a:ea typeface="Lexend" pitchFamily="34" charset="-122"/>
                <a:cs typeface="Lexend" pitchFamily="34" charset="0"/>
              </a:rPr>
              <a:t>://gd-prep-coach.vercel.app/</a:t>
            </a:r>
            <a:endParaRPr lang="en-US" sz="1800" dirty="0"/>
          </a:p>
        </p:txBody>
      </p:sp>
      <p:sp>
        <p:nvSpPr>
          <p:cNvPr id="13" name="Text 11"/>
          <p:cNvSpPr/>
          <p:nvPr/>
        </p:nvSpPr>
        <p:spPr>
          <a:xfrm>
            <a:off x="6495887" y="3976747"/>
            <a:ext cx="4838579" cy="792361"/>
          </a:xfrm>
          <a:prstGeom prst="rect">
            <a:avLst/>
          </a:prstGeom>
          <a:noFill/>
          <a:ln/>
        </p:spPr>
        <p:txBody>
          <a:bodyPr wrap="square" lIns="0" tIns="0" rIns="0" bIns="0" rtlCol="0" anchor="t">
            <a:normAutofit/>
          </a:bodyPr>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0"/>
              </a:rPr>
              <a:t>Certificates or completion evidence</a:t>
            </a:r>
            <a:endParaRPr lang="en-US" sz="2400" dirty="0"/>
          </a:p>
        </p:txBody>
      </p:sp>
      <p:sp>
        <p:nvSpPr>
          <p:cNvPr id="14" name="Text 12"/>
          <p:cNvSpPr/>
          <p:nvPr/>
        </p:nvSpPr>
        <p:spPr>
          <a:xfrm>
            <a:off x="6495887" y="4981515"/>
            <a:ext cx="5086223" cy="308570"/>
          </a:xfrm>
          <a:prstGeom prst="rect">
            <a:avLst/>
          </a:prstGeom>
          <a:noFill/>
          <a:ln/>
        </p:spPr>
        <p:txBody>
          <a:bodyPr wrap="none" lIns="0" tIns="0" rIns="0" bIns="0" rtlCol="0" anchor="t"/>
          <a:lstStyle/>
          <a:p>
            <a:pPr>
              <a:lnSpc>
                <a:spcPct val="113000"/>
              </a:lnSpc>
            </a:pPr>
            <a:r>
              <a:rPr lang="pt-BR" dirty="0" smtClean="0"/>
              <a:t>  </a:t>
            </a:r>
            <a:r>
              <a:rPr lang="en-IN" dirty="0" smtClean="0">
                <a:solidFill>
                  <a:schemeClr val="bg1"/>
                </a:solidFill>
              </a:rPr>
              <a:t>https</a:t>
            </a:r>
            <a:r>
              <a:rPr lang="en-IN" dirty="0">
                <a:solidFill>
                  <a:schemeClr val="bg1"/>
                </a:solidFill>
              </a:rPr>
              <a:t>://abtalks.in/verify/ABT-CC-4JWUU</a:t>
            </a:r>
          </a:p>
          <a:p>
            <a:pPr>
              <a:lnSpc>
                <a:spcPct val="113000"/>
              </a:lnSpc>
            </a:pPr>
            <a:r>
              <a:rPr lang="pt-BR" dirty="0" smtClean="0">
                <a:solidFill>
                  <a:schemeClr val="bg1"/>
                </a:solidFill>
              </a:rPr>
              <a:t> </a:t>
            </a:r>
            <a:endParaRPr lang="en-US" sz="1800" dirty="0">
              <a:solidFill>
                <a:schemeClr val="bg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1696819"/>
            <a:ext cx="4145256"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RETROSPECTIVE</a:t>
            </a:r>
            <a:endParaRPr lang="en-US" sz="1300" dirty="0"/>
          </a:p>
        </p:txBody>
      </p:sp>
      <p:sp>
        <p:nvSpPr>
          <p:cNvPr id="3" name="Text 1"/>
          <p:cNvSpPr/>
          <p:nvPr/>
        </p:nvSpPr>
        <p:spPr>
          <a:xfrm>
            <a:off x="609585" y="2016449"/>
            <a:ext cx="3535671"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What I learned and how I grew</a:t>
            </a:r>
            <a:endParaRPr lang="en-US" sz="2800" dirty="0"/>
          </a:p>
        </p:txBody>
      </p:sp>
      <p:sp>
        <p:nvSpPr>
          <p:cNvPr id="4" name="Text 2"/>
          <p:cNvSpPr/>
          <p:nvPr/>
        </p:nvSpPr>
        <p:spPr>
          <a:xfrm>
            <a:off x="609585" y="3132356"/>
            <a:ext cx="3535671" cy="2057301"/>
          </a:xfrm>
          <a:prstGeom prst="rect">
            <a:avLst/>
          </a:prstGeom>
          <a:noFill/>
          <a:ln/>
        </p:spPr>
        <p:txBody>
          <a:bodyPr wrap="square" lIns="0" tIns="0" rIns="0" bIns="0" rtlCol="0" anchor="t">
            <a:normAutofit lnSpcReduction="10000"/>
          </a:bodyPr>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0"/>
              </a:rPr>
              <a:t>I grew by connecting theory with practical skills and learning through feedback and iteration.</a:t>
            </a:r>
            <a:endParaRPr lang="en-US" sz="2400" dirty="0"/>
          </a:p>
        </p:txBody>
      </p:sp>
      <p:sp>
        <p:nvSpPr>
          <p:cNvPr id="5" name="Shape 3"/>
          <p:cNvSpPr/>
          <p:nvPr/>
        </p:nvSpPr>
        <p:spPr>
          <a:xfrm>
            <a:off x="5059534" y="0"/>
            <a:ext cx="7132161" cy="6858000"/>
          </a:xfrm>
          <a:prstGeom prst="rect">
            <a:avLst/>
          </a:prstGeom>
          <a:solidFill>
            <a:srgbClr val="1E1F66"/>
          </a:solidFill>
          <a:ln/>
        </p:spPr>
      </p:sp>
      <p:sp>
        <p:nvSpPr>
          <p:cNvPr id="6" name="Text 4"/>
          <p:cNvSpPr/>
          <p:nvPr/>
        </p:nvSpPr>
        <p:spPr>
          <a:xfrm>
            <a:off x="5669118" y="1630759"/>
            <a:ext cx="5912992" cy="3596481"/>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Consistent practice matters.</a:t>
            </a:r>
            <a:endParaRPr lang="en-US" sz="2400" dirty="0"/>
          </a:p>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Debugging is part of engineering.</a:t>
            </a:r>
            <a:endParaRPr lang="en-US" sz="2400" dirty="0"/>
          </a:p>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Projects connect theory with practical skills.</a:t>
            </a:r>
            <a:endParaRPr lang="en-US" sz="2400" dirty="0"/>
          </a:p>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Documentation and communication matter.</a:t>
            </a:r>
            <a:endParaRPr lang="en-US" sz="2400" dirty="0"/>
          </a:p>
          <a:p>
            <a:pPr marL="487680" indent="-487680" algn="l">
              <a:lnSpc>
                <a:spcPct val="113000"/>
              </a:lnSpc>
              <a:buSzPct val="100000"/>
              <a:buChar char="•"/>
            </a:pPr>
            <a:r>
              <a:rPr lang="en-US" sz="2400" dirty="0">
                <a:solidFill>
                  <a:srgbClr val="E6E9FF"/>
                </a:solidFill>
                <a:latin typeface="Lexend" pitchFamily="34" charset="0"/>
                <a:ea typeface="Lexend" pitchFamily="34" charset="-122"/>
                <a:cs typeface="Lexend" pitchFamily="34" charset="0"/>
              </a:rPr>
              <a:t>Feedback and iteration improve software.</a:t>
            </a: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26745"/>
            <a:ext cx="760462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0"/>
              </a:rPr>
              <a:t>FORWARD TRAJECTORY</a:t>
            </a:r>
            <a:endParaRPr lang="en-US" sz="1300" dirty="0"/>
          </a:p>
        </p:txBody>
      </p:sp>
      <p:sp>
        <p:nvSpPr>
          <p:cNvPr id="3" name="Text 1"/>
          <p:cNvSpPr/>
          <p:nvPr/>
        </p:nvSpPr>
        <p:spPr>
          <a:xfrm>
            <a:off x="609585" y="946375"/>
            <a:ext cx="6995045" cy="817761"/>
          </a:xfrm>
          <a:prstGeom prst="rect">
            <a:avLst/>
          </a:prstGeom>
          <a:noFill/>
          <a:ln/>
        </p:spPr>
        <p:txBody>
          <a:bodyPr wrap="square" lIns="0" tIns="0" rIns="0" bIns="0" rtlCol="0" anchor="t">
            <a:normAutofit lnSpcReduction="10000"/>
          </a:bodyPr>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0"/>
              </a:rPr>
              <a:t>What's next: the journey continues</a:t>
            </a:r>
            <a:endParaRPr lang="en-US" sz="2800" dirty="0"/>
          </a:p>
        </p:txBody>
      </p:sp>
      <p:sp>
        <p:nvSpPr>
          <p:cNvPr id="4" name="Text 2"/>
          <p:cNvSpPr/>
          <p:nvPr/>
        </p:nvSpPr>
        <p:spPr>
          <a:xfrm>
            <a:off x="609585" y="2050852"/>
            <a:ext cx="6995045" cy="2621161"/>
          </a:xfrm>
          <a:prstGeom prst="rect">
            <a:avLst/>
          </a:prstGeom>
          <a:noFill/>
          <a:ln/>
        </p:spPr>
        <p:txBody>
          <a:bodyPr wrap="square" lIns="0" tIns="0" rIns="0" bIns="0" rtlCol="0" anchor="t">
            <a:normAutofit/>
          </a:bodyPr>
          <a:lstStyle/>
          <a:p>
            <a:pPr marL="487680" indent="-487680" algn="l">
              <a:lnSpc>
                <a:spcPct val="113000"/>
              </a:lnSpc>
              <a:buSzPct val="100000"/>
              <a:buChar char="•"/>
            </a:pPr>
            <a:r>
              <a:rPr lang="en-US" sz="1800" dirty="0">
                <a:solidFill>
                  <a:srgbClr val="E6E9FF"/>
                </a:solidFill>
                <a:latin typeface="Lexend" pitchFamily="34" charset="0"/>
                <a:ea typeface="Lexend" pitchFamily="34" charset="-122"/>
                <a:cs typeface="Lexend" pitchFamily="34" charset="0"/>
              </a:rPr>
              <a:t>Continue Java and DSA practice; strengthen full-stack skills.</a:t>
            </a:r>
            <a:endParaRPr lang="en-US" sz="2400" dirty="0"/>
          </a:p>
          <a:p>
            <a:pPr marL="487680" indent="-487680" algn="l">
              <a:lnSpc>
                <a:spcPct val="113000"/>
              </a:lnSpc>
              <a:buSzPct val="100000"/>
              <a:buChar char="•"/>
            </a:pPr>
            <a:r>
              <a:rPr lang="en-US" sz="1800" dirty="0">
                <a:solidFill>
                  <a:srgbClr val="E6E9FF"/>
                </a:solidFill>
                <a:latin typeface="Lexend" pitchFamily="34" charset="0"/>
                <a:ea typeface="Lexend" pitchFamily="34" charset="-122"/>
                <a:cs typeface="Lexend" pitchFamily="34" charset="0"/>
              </a:rPr>
              <a:t>Improve testing, code quality, system design fundamentals; build and document more portfolio projects.</a:t>
            </a:r>
            <a:endParaRPr lang="en-US" sz="2400" dirty="0"/>
          </a:p>
          <a:p>
            <a:pPr marL="487680" indent="-487680" algn="l">
              <a:lnSpc>
                <a:spcPct val="113000"/>
              </a:lnSpc>
              <a:buSzPct val="100000"/>
              <a:buChar char="•"/>
            </a:pPr>
            <a:r>
              <a:rPr lang="en-US" sz="1800" dirty="0">
                <a:solidFill>
                  <a:srgbClr val="E6E9FF"/>
                </a:solidFill>
                <a:latin typeface="Lexend" pitchFamily="34" charset="0"/>
                <a:ea typeface="Lexend" pitchFamily="34" charset="-122"/>
                <a:cs typeface="Lexend" pitchFamily="34" charset="0"/>
              </a:rPr>
              <a:t>Prepare for campus placements and technical interviews.</a:t>
            </a:r>
            <a:endParaRPr lang="en-US" sz="2400" dirty="0"/>
          </a:p>
        </p:txBody>
      </p:sp>
      <p:sp>
        <p:nvSpPr>
          <p:cNvPr id="5" name="Text 3"/>
          <p:cNvSpPr/>
          <p:nvPr/>
        </p:nvSpPr>
        <p:spPr>
          <a:xfrm>
            <a:off x="1066773" y="5029835"/>
            <a:ext cx="6537856" cy="617141"/>
          </a:xfrm>
          <a:prstGeom prst="rect">
            <a:avLst/>
          </a:prstGeom>
          <a:noFill/>
          <a:ln/>
        </p:spPr>
        <p:txBody>
          <a:bodyPr wrap="square" lIns="0" tIns="0" rIns="0" bIns="0" rtlCol="0" anchor="t">
            <a:normAutofit lnSpcReduction="10000"/>
          </a:bodyPr>
          <a:lstStyle/>
          <a:p>
            <a:pPr marL="0" indent="0" algn="l">
              <a:lnSpc>
                <a:spcPct val="113000"/>
              </a:lnSpc>
              <a:buNone/>
            </a:pPr>
            <a:r>
              <a:rPr lang="en-US" sz="1800" i="1" dirty="0">
                <a:solidFill>
                  <a:srgbClr val="E6E9FF"/>
                </a:solidFill>
                <a:latin typeface="Lexend" pitchFamily="34" charset="0"/>
                <a:ea typeface="Lexend" pitchFamily="34" charset="-122"/>
                <a:cs typeface="Lexend" pitchFamily="34" charset="0"/>
              </a:rPr>
              <a:t>"Every bug is a lesson. Every project is progress. The journey continues."</a:t>
            </a:r>
            <a:endParaRPr lang="en-US" sz="1800" dirty="0"/>
          </a:p>
        </p:txBody>
      </p:sp>
      <p:sp>
        <p:nvSpPr>
          <p:cNvPr id="6" name="Shape 4"/>
          <p:cNvSpPr/>
          <p:nvPr/>
        </p:nvSpPr>
        <p:spPr>
          <a:xfrm>
            <a:off x="609585" y="4945063"/>
            <a:ext cx="38099" cy="769541"/>
          </a:xfrm>
          <a:prstGeom prst="roundRect">
            <a:avLst>
              <a:gd name="adj" fmla="val 50000"/>
            </a:avLst>
          </a:prstGeom>
          <a:solidFill>
            <a:srgbClr val="2878FF"/>
          </a:solidFill>
          <a:ln/>
          <a:effectLst>
            <a:outerShdw blurRad="125730" dist="127" dir="16200000" algn="bl" rotWithShape="0">
              <a:srgbClr val="2878FF">
                <a:alpha val="50000"/>
              </a:srgbClr>
            </a:outerShdw>
          </a:effectLst>
        </p:spPr>
      </p:sp>
      <p:sp>
        <p:nvSpPr>
          <p:cNvPr id="7" name="Text 5"/>
          <p:cNvSpPr/>
          <p:nvPr/>
        </p:nvSpPr>
        <p:spPr>
          <a:xfrm>
            <a:off x="609585" y="5996226"/>
            <a:ext cx="7604629" cy="308570"/>
          </a:xfrm>
          <a:prstGeom prst="rect">
            <a:avLst/>
          </a:prstGeom>
          <a:noFill/>
          <a:ln/>
        </p:spPr>
        <p:txBody>
          <a:bodyPr wrap="none" lIns="0" tIns="0" rIns="0" bIns="0" rtlCol="0" anchor="t"/>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0"/>
              </a:rPr>
              <a:t>Thank You | https://github.com/ramyanagesh29</a:t>
            </a:r>
            <a:endParaRPr lang="en-US" sz="1800" dirty="0"/>
          </a:p>
        </p:txBody>
      </p:sp>
      <p:sp>
        <p:nvSpPr>
          <p:cNvPr id="8" name="Shape 6"/>
          <p:cNvSpPr/>
          <p:nvPr/>
        </p:nvSpPr>
        <p:spPr>
          <a:xfrm>
            <a:off x="8671303" y="1300262"/>
            <a:ext cx="3238419" cy="4305300"/>
          </a:xfrm>
          <a:prstGeom prst="roundRect">
            <a:avLst>
              <a:gd name="adj" fmla="val 4706"/>
            </a:avLst>
          </a:prstGeom>
          <a:noFill/>
          <a:ln w="19050">
            <a:solidFill>
              <a:srgbClr val="2878FF"/>
            </a:solidFill>
            <a:prstDash val="solid"/>
          </a:ln>
          <a:effectLst>
            <a:outerShdw blurRad="201930" dist="127" dir="16200000" algn="bl" rotWithShape="0">
              <a:srgbClr val="2878FF">
                <a:alpha val="40000"/>
              </a:srgbClr>
            </a:outerShdw>
          </a:effectLst>
        </p:spPr>
      </p:sp>
      <p:pic>
        <p:nvPicPr>
          <p:cNvPr id="9" name="Image 0" descr="preencoded.png"/>
          <p:cNvPicPr>
            <a:picLocks noChangeAspect="1"/>
          </p:cNvPicPr>
          <p:nvPr/>
        </p:nvPicPr>
        <p:blipFill>
          <a:blip r:embed="rId3"/>
          <a:stretch>
            <a:fillRect/>
          </a:stretch>
        </p:blipFill>
        <p:spPr>
          <a:xfrm>
            <a:off x="8671303" y="1300262"/>
            <a:ext cx="3238419" cy="43053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TotalTime>
  <Words>769</Words>
  <Application>Microsoft Office PowerPoint</Application>
  <PresentationFormat>Custom</PresentationFormat>
  <Paragraphs>111</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Lexend Bold</vt:lpstr>
      <vt:lpstr>Consolas</vt:lpstr>
      <vt:lpstr>Calibri</vt:lpstr>
      <vt:lpstr>Lexend Medium</vt:lpstr>
      <vt:lpstr>Lexend</vt:lpstr>
      <vt:lpstr>Martian Mono Medium</vt:lpstr>
      <vt:lpstr>Krona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pravee</cp:lastModifiedBy>
  <cp:revision>3</cp:revision>
  <dcterms:created xsi:type="dcterms:W3CDTF">2026-10-24T12:04:38Z</dcterms:created>
  <dcterms:modified xsi:type="dcterms:W3CDTF">2026-10-24T12:23:28Z</dcterms:modified>
</cp:coreProperties>
</file>